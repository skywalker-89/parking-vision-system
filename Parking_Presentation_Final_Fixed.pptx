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5" r:id="rId6"/>
    <p:sldId id="260" r:id="rId7"/>
    <p:sldId id="277" r:id="rId8"/>
    <p:sldId id="262" r:id="rId9"/>
    <p:sldId id="261" r:id="rId10"/>
    <p:sldId id="282" r:id="rId11"/>
    <p:sldId id="279" r:id="rId12"/>
    <p:sldId id="280" r:id="rId13"/>
    <p:sldId id="288" r:id="rId14"/>
    <p:sldId id="289" r:id="rId15"/>
    <p:sldId id="290" r:id="rId16"/>
    <p:sldId id="263" r:id="rId17"/>
    <p:sldId id="273" r:id="rId18"/>
    <p:sldId id="274" r:id="rId19"/>
    <p:sldId id="275" r:id="rId20"/>
    <p:sldId id="266" r:id="rId21"/>
    <p:sldId id="264" r:id="rId22"/>
    <p:sldId id="284" r:id="rId23"/>
    <p:sldId id="265" r:id="rId24"/>
    <p:sldId id="281" r:id="rId25"/>
    <p:sldId id="267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143C"/>
    <a:srgbClr val="898989"/>
    <a:srgbClr val="DE1F45"/>
    <a:srgbClr val="FF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725"/>
  </p:normalViewPr>
  <p:slideViewPr>
    <p:cSldViewPr snapToGrid="0" snapToObjects="1">
      <p:cViewPr varScale="1">
        <p:scale>
          <a:sx n="113" d="100"/>
          <a:sy n="113" d="100"/>
        </p:scale>
        <p:origin x="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C8B8B-2E3C-4E4A-B891-F62C6E05A37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92DBB-0B8A-4169-B819-B8CE68D63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4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2DBB-0B8A-4169-B819-B8CE68D63D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07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7B281-A57B-5FB2-275A-437F4D2F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F5C4B-8AF1-C84A-7C2E-6AF6F0C72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EB825-5D85-2567-04C5-D8AD0B79D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9CA0F-288E-AA89-50E6-E38F00F02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5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43BB-65F7-842D-8F77-5E105BAC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A7651-E0AA-BB1A-CF71-A1C649D18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976AA-E741-420A-B046-A0025CE6A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76DCD-436E-73EE-9BE0-3894B8F76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80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B485-B6B1-00AE-DA1F-4EED81EB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2164D-FCAE-FFAE-AD39-A009E3759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4749E-47C6-6946-8EDA-EDBFEEBFD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F25B-D51E-894F-A591-7A80258B8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98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1A1A2E"/>
                </a:solidFill>
                <a:latin typeface="Calibri"/>
              </a:rPr>
              <a:t>Vision-Based Smart Parking
Occupancy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2613" y="3125926"/>
            <a:ext cx="3749039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6612" y="3228945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DC143C"/>
                </a:solidFill>
                <a:latin typeface="Calibri"/>
              </a:rPr>
              <a:t>Using Dual YOLO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Group: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Group 66011049 · 66011666 · 66011117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44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544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Kunanon Rungsomboon ·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Mihini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Methasa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Boteju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·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Papangkorn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Wongsuwan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74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Advisor: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9743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A1A2E"/>
                </a:solidFill>
                <a:latin typeface="Calibri"/>
              </a:rPr>
              <a:t>Jirayut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Petchhan</a:t>
            </a:r>
            <a:endParaRPr sz="13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5404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Course: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404104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01276390 CEPP  |  </a:t>
            </a:r>
            <a:r>
              <a:rPr lang="en-US" sz="1300" b="0" i="0" dirty="0">
                <a:solidFill>
                  <a:srgbClr val="1A1A2E"/>
                </a:solidFill>
                <a:latin typeface="Calibri"/>
              </a:rPr>
              <a:t>April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88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CEIPP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7">
            <a:extLst>
              <a:ext uri="{FF2B5EF4-FFF2-40B4-BE49-F238E27FC236}">
                <a16:creationId xmlns:a16="http://schemas.microsoft.com/office/drawing/2014/main" id="{C40EEFCD-C7F4-2A20-FE2D-0CFF73CDED0C}"/>
              </a:ext>
            </a:extLst>
          </p:cNvPr>
          <p:cNvSpPr/>
          <p:nvPr/>
        </p:nvSpPr>
        <p:spPr>
          <a:xfrm>
            <a:off x="8181820" y="1438163"/>
            <a:ext cx="3360626" cy="42440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B37DDE19-E8A0-0873-5788-D83177F32B9C}"/>
              </a:ext>
            </a:extLst>
          </p:cNvPr>
          <p:cNvSpPr/>
          <p:nvPr/>
        </p:nvSpPr>
        <p:spPr>
          <a:xfrm>
            <a:off x="8181820" y="1317731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2930892-188A-B017-8E26-3984DFEDD33E}"/>
              </a:ext>
            </a:extLst>
          </p:cNvPr>
          <p:cNvSpPr/>
          <p:nvPr/>
        </p:nvSpPr>
        <p:spPr>
          <a:xfrm>
            <a:off x="450701" y="1449250"/>
            <a:ext cx="3360626" cy="42187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6FD69-EC3F-A7BD-43F4-7F1172FC253A}"/>
              </a:ext>
            </a:extLst>
          </p:cNvPr>
          <p:cNvSpPr txBox="1"/>
          <p:nvPr/>
        </p:nvSpPr>
        <p:spPr>
          <a:xfrm>
            <a:off x="609600" y="335280"/>
            <a:ext cx="5668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</a:rPr>
              <a:t>Background — The Parking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8934FB-1591-3D41-5605-23137370E0F7}"/>
              </a:ext>
            </a:extLst>
          </p:cNvPr>
          <p:cNvSpPr/>
          <p:nvPr/>
        </p:nvSpPr>
        <p:spPr>
          <a:xfrm>
            <a:off x="609600" y="8599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108CEEC-A5FF-187F-9911-42E326D3514C}"/>
              </a:ext>
            </a:extLst>
          </p:cNvPr>
          <p:cNvSpPr/>
          <p:nvPr/>
        </p:nvSpPr>
        <p:spPr>
          <a:xfrm>
            <a:off x="720993" y="1653895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A34792E-5F43-A29E-E6B1-A0880CE11E5C}"/>
              </a:ext>
            </a:extLst>
          </p:cNvPr>
          <p:cNvSpPr/>
          <p:nvPr/>
        </p:nvSpPr>
        <p:spPr>
          <a:xfrm>
            <a:off x="858153" y="2568295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Minutes Lost</a:t>
            </a: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225B08D-2E31-F22F-A56D-9367D2FAD868}"/>
              </a:ext>
            </a:extLst>
          </p:cNvPr>
          <p:cNvSpPr/>
          <p:nvPr/>
        </p:nvSpPr>
        <p:spPr>
          <a:xfrm>
            <a:off x="858153" y="3071215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trip spent searching for a parking spot — causing congestion, fuel waste, and emissions</a:t>
            </a:r>
            <a:endParaRPr lang="en-US" sz="115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47010A30-BA4B-0C7B-15B0-43F1BF03B965}"/>
              </a:ext>
            </a:extLst>
          </p:cNvPr>
          <p:cNvSpPr/>
          <p:nvPr/>
        </p:nvSpPr>
        <p:spPr>
          <a:xfrm>
            <a:off x="4314361" y="1423939"/>
            <a:ext cx="3360626" cy="42440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43D5CFA-E4B3-00C6-57D0-40B360A9384E}"/>
              </a:ext>
            </a:extLst>
          </p:cNvPr>
          <p:cNvSpPr/>
          <p:nvPr/>
        </p:nvSpPr>
        <p:spPr>
          <a:xfrm>
            <a:off x="4314361" y="1304862"/>
            <a:ext cx="3360626" cy="109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A87F0E1-0A22-16BD-A84A-CA3CDC61A905}"/>
              </a:ext>
            </a:extLst>
          </p:cNvPr>
          <p:cNvSpPr/>
          <p:nvPr/>
        </p:nvSpPr>
        <p:spPr>
          <a:xfrm>
            <a:off x="4451520" y="2219262"/>
            <a:ext cx="3024563" cy="608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Sensors</a:t>
            </a:r>
            <a:endParaRPr lang="en-US" sz="15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EB781B5-D2B7-D5E5-2BB6-1BBDF3E0DB90}"/>
              </a:ext>
            </a:extLst>
          </p:cNvPr>
          <p:cNvSpPr/>
          <p:nvPr/>
        </p:nvSpPr>
        <p:spPr>
          <a:xfrm>
            <a:off x="4451520" y="2722183"/>
            <a:ext cx="3024563" cy="2189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Per-bay magnetic loops / ultrasonic sensors: cost, wiring, and maintenance scale linearly with bay count</a:t>
            </a:r>
            <a:endParaRPr lang="en-US" sz="115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DE760D0-E0F2-2F31-BC82-A3A88371DEFE}"/>
              </a:ext>
            </a:extLst>
          </p:cNvPr>
          <p:cNvSpPr/>
          <p:nvPr/>
        </p:nvSpPr>
        <p:spPr>
          <a:xfrm>
            <a:off x="8644145" y="17183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16CF8C0-CA0C-D27D-BE42-4EA02332E6B5}"/>
              </a:ext>
            </a:extLst>
          </p:cNvPr>
          <p:cNvSpPr/>
          <p:nvPr/>
        </p:nvSpPr>
        <p:spPr>
          <a:xfrm>
            <a:off x="8781305" y="2632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Distortion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54013F9-4965-1162-A7E7-38928780E97B}"/>
              </a:ext>
            </a:extLst>
          </p:cNvPr>
          <p:cNvSpPr/>
          <p:nvPr/>
        </p:nvSpPr>
        <p:spPr>
          <a:xfrm>
            <a:off x="8781305" y="3135664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detectors fail: cars far from camera appear smaller, making fixed-distance matching unreliable</a:t>
            </a:r>
            <a:endParaRPr lang="en-US" sz="115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C5CBE67E-AB04-5C24-B22B-55BE7BA7B168}"/>
              </a:ext>
            </a:extLst>
          </p:cNvPr>
          <p:cNvSpPr/>
          <p:nvPr/>
        </p:nvSpPr>
        <p:spPr>
          <a:xfrm>
            <a:off x="4314361" y="1299258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56234B0B-903A-8252-208C-6D20AA1C0FD5}"/>
              </a:ext>
            </a:extLst>
          </p:cNvPr>
          <p:cNvSpPr/>
          <p:nvPr/>
        </p:nvSpPr>
        <p:spPr>
          <a:xfrm>
            <a:off x="454499" y="1317730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B291668-790D-8074-7337-D860F6D76D7C}"/>
              </a:ext>
            </a:extLst>
          </p:cNvPr>
          <p:cNvSpPr/>
          <p:nvPr/>
        </p:nvSpPr>
        <p:spPr>
          <a:xfrm>
            <a:off x="1842452" y="5851461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Solution: Vision-only system using Dual YOLO + Bird's Eye View occupancy matching — no per-bay hardware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Current Methods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C143C"/>
                </a:solidFill>
                <a:latin typeface="Calibri"/>
              </a:rPr>
              <a:t>Manual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350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Security personnel conduct physical walkthroughs — not scalable, error-prone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66543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C143C"/>
                </a:solidFill>
                <a:latin typeface="Calibri"/>
              </a:rPr>
              <a:t>Per-Bay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04287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Magnetic / ultrasonic sensors per space — high cost, difficult to maintain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66543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7355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Single-Model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735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One CNN for all tasks — lower accuracy, struggles with multi-class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42815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Perspective Distortion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242815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Far objects appear smaller; naïve pixel-distance matching fails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974336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2120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Manual Spot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120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Parking bay coordinates must be hand-labelled — labour intensive, brittle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60E919-AFE6-D572-2083-310076E9519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5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606070"/>
                </a:solidFill>
                <a:latin typeface="Calibri"/>
              </a:rPr>
              <a:t>Four ideas that define our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131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338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One Camera, Many 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3743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06070"/>
                </a:solidFill>
                <a:latin typeface="Calibri"/>
              </a:rPr>
              <a:t>A single overhead camera can monitor an entire parking zone,
eliminating per-bay sensor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4131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5338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Separate the Detection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3743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06070"/>
                </a:solidFill>
                <a:latin typeface="Calibri"/>
              </a:rPr>
              <a:t>Spot detection and car detection are different problems</a:t>
            </a:r>
            <a:r>
              <a:rPr lang="en-US" sz="1200" dirty="0">
                <a:solidFill>
                  <a:srgbClr val="606070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606070"/>
                </a:solidFill>
                <a:latin typeface="Calibri"/>
              </a:rPr>
              <a:t>using dedicated models for each </a:t>
            </a:r>
            <a:r>
              <a:rPr lang="en-US" sz="1200" b="0" i="0" dirty="0">
                <a:solidFill>
                  <a:srgbClr val="606070"/>
                </a:solidFill>
                <a:latin typeface="Calibri"/>
              </a:rPr>
              <a:t>yield's</a:t>
            </a:r>
            <a:r>
              <a:rPr sz="1200" b="0" i="0" dirty="0">
                <a:solidFill>
                  <a:srgbClr val="606070"/>
                </a:solidFill>
                <a:latin typeface="Calibri"/>
              </a:rPr>
              <a:t> higher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0163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370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BEV Fixes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9775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70"/>
                </a:solidFill>
                <a:latin typeface="Calibri"/>
              </a:rPr>
              <a:t>Bird's Eye View projection normalises distance distortion,
making proximity matching reliable across the entire 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20163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1370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Recalibration Reduces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09775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70"/>
                </a:solidFill>
                <a:latin typeface="Calibri"/>
              </a:rPr>
              <a:t>Automated 2 AM spot re-scan self-heals after camera drift,
eliminating the need for human re-annotation.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540" y="750506"/>
            <a:ext cx="11701272" cy="29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080" y="1143595"/>
            <a:ext cx="5302139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457080" y="1143595"/>
            <a:ext cx="5302139" cy="6399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2724202" y="1308144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2724202" y="1308144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💻</a:t>
            </a:r>
            <a:endParaRPr lang="en-US" sz="2399" dirty="0"/>
          </a:p>
        </p:txBody>
      </p:sp>
      <p:sp>
        <p:nvSpPr>
          <p:cNvPr id="10" name="Text 8"/>
          <p:cNvSpPr/>
          <p:nvPr/>
        </p:nvSpPr>
        <p:spPr>
          <a:xfrm>
            <a:off x="594205" y="2167456"/>
            <a:ext cx="5027890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496" y="2441705"/>
            <a:ext cx="5119307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 Laptop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496" y="2926211"/>
            <a:ext cx="5119307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83DG  ·  Windows 11 Home 64-bit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99133" y="1143595"/>
            <a:ext cx="5302139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399133" y="1143595"/>
            <a:ext cx="5302139" cy="6399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8666254" y="1308144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666254" y="1308144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🎮</a:t>
            </a:r>
            <a:endParaRPr lang="en-US" sz="2399" dirty="0"/>
          </a:p>
        </p:txBody>
      </p:sp>
      <p:sp>
        <p:nvSpPr>
          <p:cNvPr id="17" name="Text 15"/>
          <p:cNvSpPr/>
          <p:nvPr/>
        </p:nvSpPr>
        <p:spPr>
          <a:xfrm>
            <a:off x="6536257" y="2167456"/>
            <a:ext cx="5027890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0549" y="2441705"/>
            <a:ext cx="5119307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GeForce RTX 4060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0549" y="2926211"/>
            <a:ext cx="5119307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GPU  ·  8 GB VRAM  ·  CUDA-enabled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080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57080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1741478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1741478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⚡</a:t>
            </a:r>
            <a:endParaRPr lang="en-US" sz="2399" dirty="0"/>
          </a:p>
        </p:txBody>
      </p:sp>
      <p:sp>
        <p:nvSpPr>
          <p:cNvPr id="24" name="Text 22"/>
          <p:cNvSpPr/>
          <p:nvPr/>
        </p:nvSpPr>
        <p:spPr>
          <a:xfrm>
            <a:off x="594205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497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i7-14650HX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497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CPUs  ·  2.2 GHz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15401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4415401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5699799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5699799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🧠</a:t>
            </a:r>
            <a:endParaRPr lang="en-US" sz="2399" dirty="0"/>
          </a:p>
        </p:txBody>
      </p:sp>
      <p:sp>
        <p:nvSpPr>
          <p:cNvPr id="31" name="Text 29"/>
          <p:cNvSpPr/>
          <p:nvPr/>
        </p:nvSpPr>
        <p:spPr>
          <a:xfrm>
            <a:off x="4552526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6818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6818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Memory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64581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8364581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9648978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9648978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🔧</a:t>
            </a:r>
            <a:endParaRPr lang="en-US" sz="2399" dirty="0"/>
          </a:p>
        </p:txBody>
      </p:sp>
      <p:sp>
        <p:nvSpPr>
          <p:cNvPr id="38" name="Text 36"/>
          <p:cNvSpPr/>
          <p:nvPr/>
        </p:nvSpPr>
        <p:spPr>
          <a:xfrm>
            <a:off x="8501705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55997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5997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Acceleration + PyTorch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884104" y="6655992"/>
            <a:ext cx="255965" cy="18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76CC69-734C-0F6C-37E3-D18653C746F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5C54AE-0D6E-2B6B-A1D2-3A04DE4FCFDE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DC143C"/>
                </a:solidFill>
                <a:latin typeface="Calibri"/>
              </a:rPr>
              <a:t>Training Hardware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F31AA5-47C2-5973-69A9-A8923776A81F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BFC2EF-217C-8D2C-5050-C3338DFD3AC3}"/>
              </a:ext>
            </a:extLst>
          </p:cNvPr>
          <p:cNvSpPr txBox="1"/>
          <p:nvPr/>
        </p:nvSpPr>
        <p:spPr>
          <a:xfrm>
            <a:off x="457200" y="75207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and inference benchmarking performed on a single laptop with CUDA acceleration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67336" y="2024783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6715" y="2379895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Reference
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0573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9370" y="2033927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9451" y="2284773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Spot
Detector
(spots.pt)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850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324" y="2044298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4324" y="2265841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Spot
Coordinates
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6929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7445" y="202601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027445" y="2379895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BEV
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2401" y="237621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1042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041042" y="237529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Matching
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5998" y="2379895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4214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09455" y="2406499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Occupancy
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7445" y="3675276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06004" y="3987859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Live
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7540" y="403643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1042" y="3675276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1042" y="3947446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Car Detector
(best.pt)
+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6085" y="329714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66360"/>
            <a:ext cx="6400800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C143C"/>
                </a:solidFill>
                <a:latin typeface="Calibri"/>
              </a:rPr>
              <a:t>★  Red boxes = YOLO model 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56110-6415-F25A-9CC2-F8B7DFDED85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15" y="293680"/>
            <a:ext cx="5484971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799" dirty="0"/>
          </a:p>
        </p:txBody>
      </p:sp>
      <p:sp>
        <p:nvSpPr>
          <p:cNvPr id="3" name="Text 1"/>
          <p:cNvSpPr/>
          <p:nvPr/>
        </p:nvSpPr>
        <p:spPr>
          <a:xfrm>
            <a:off x="274248" y="659089"/>
            <a:ext cx="11609856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Vision-Based Smart Parking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74248" y="915055"/>
            <a:ext cx="11609856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pipeline: Initialization (once at startup) + Main Processing Loop (every frame)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6994" y="1207587"/>
            <a:ext cx="182832" cy="1828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1325534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Input/Output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274" y="1207587"/>
            <a:ext cx="182832" cy="182832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473814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Detection/BEV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3555" y="1207587"/>
            <a:ext cx="182832" cy="1828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22095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1835" y="1207587"/>
            <a:ext cx="182832" cy="1828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7770375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90116" y="1207587"/>
            <a:ext cx="182832" cy="18283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9918656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15" y="1818307"/>
            <a:ext cx="3656648" cy="2540068"/>
          </a:xfrm>
          <a:prstGeom prst="rect">
            <a:avLst/>
          </a:prstGeom>
          <a:solidFill>
            <a:srgbClr val="F0F8FF"/>
          </a:solidFill>
          <a:ln w="22860">
            <a:solidFill>
              <a:srgbClr val="0277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23" y="1601720"/>
            <a:ext cx="3473815" cy="255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r>
              <a:rPr lang="en-US" sz="85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381" y="1938916"/>
            <a:ext cx="1371243" cy="731330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347381" y="1938916"/>
            <a:ext cx="1371243" cy="73133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(.jpg)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29439" y="1938916"/>
            <a:ext cx="1508367" cy="731330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2029439" y="1938916"/>
            <a:ext cx="1508367" cy="73133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spots.pt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Detector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718624" y="2304581"/>
            <a:ext cx="310815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2029968" y="3502152"/>
            <a:ext cx="1508760" cy="658368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2029968" y="3502152"/>
            <a:ext cx="1508760" cy="65836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spots_data.json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bay coords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525" y="3319685"/>
            <a:ext cx="1874033" cy="255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i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Auto-recalibrate at 2AM  (≤2 cars)</a:t>
            </a:r>
            <a:endParaRPr lang="en-US" sz="850" dirty="0">
              <a:solidFill>
                <a:srgbClr val="DE1F45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57979" y="4498569"/>
            <a:ext cx="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1023861" y="4498570"/>
            <a:ext cx="0" cy="87759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201115" y="4315738"/>
            <a:ext cx="11756122" cy="2312830"/>
          </a:xfrm>
          <a:prstGeom prst="rect">
            <a:avLst/>
          </a:prstGeom>
          <a:solidFill>
            <a:srgbClr val="FFF8F8"/>
          </a:solidFill>
          <a:ln w="2286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3062442" y="4667689"/>
            <a:ext cx="1645491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i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BEV coords</a:t>
            </a:r>
            <a:endParaRPr lang="en-US" sz="800" dirty="0">
              <a:solidFill>
                <a:srgbClr val="DE1F45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6955" y="4091767"/>
            <a:ext cx="1157328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LOOP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2531" y="4562561"/>
            <a:ext cx="11573289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frame)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29968" y="2743200"/>
            <a:ext cx="150876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2029968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IoU&gt;0.4 suppressed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09607" y="4452861"/>
            <a:ext cx="1508367" cy="594205"/>
          </a:xfrm>
          <a:prstGeom prst="rect">
            <a:avLst/>
          </a:prstGeom>
          <a:solidFill>
            <a:srgbClr val="ECEFF1"/>
          </a:solidFill>
          <a:ln w="19050">
            <a:solidFill>
              <a:srgbClr val="90A4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5009607" y="4452861"/>
            <a:ext cx="1508367" cy="594205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· paths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83081" y="4452861"/>
            <a:ext cx="1599783" cy="594205"/>
          </a:xfrm>
          <a:prstGeom prst="rect">
            <a:avLst/>
          </a:prstGeom>
          <a:solidFill>
            <a:srgbClr val="ECEFF1"/>
          </a:solidFill>
          <a:ln w="19050">
            <a:solidFill>
              <a:srgbClr val="90A4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6783081" y="4452861"/>
            <a:ext cx="1599783" cy="594205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homography.json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calibration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8239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338239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Live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09482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46" name="Shape 44"/>
          <p:cNvSpPr/>
          <p:nvPr/>
        </p:nvSpPr>
        <p:spPr>
          <a:xfrm>
            <a:off x="1956306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1956306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27549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49" name="Shape 47"/>
          <p:cNvSpPr/>
          <p:nvPr/>
        </p:nvSpPr>
        <p:spPr>
          <a:xfrm>
            <a:off x="3574372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3574372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Detector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45615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52" name="Shape 50"/>
          <p:cNvSpPr/>
          <p:nvPr/>
        </p:nvSpPr>
        <p:spPr>
          <a:xfrm>
            <a:off x="5192439" y="5376165"/>
            <a:ext cx="1371243" cy="1005578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5192439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</a:t>
            </a:r>
            <a:endParaRPr lang="en-US" sz="1050" dirty="0"/>
          </a:p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563682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55" name="Shape 53"/>
          <p:cNvSpPr/>
          <p:nvPr/>
        </p:nvSpPr>
        <p:spPr>
          <a:xfrm>
            <a:off x="6810505" y="5376165"/>
            <a:ext cx="1371243" cy="1005578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6" name="Text 54"/>
          <p:cNvSpPr/>
          <p:nvPr/>
        </p:nvSpPr>
        <p:spPr>
          <a:xfrm>
            <a:off x="6810505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BEV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O(K log K)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70px threshold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181748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58" name="Shape 56"/>
          <p:cNvSpPr/>
          <p:nvPr/>
        </p:nvSpPr>
        <p:spPr>
          <a:xfrm>
            <a:off x="8428572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8428572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↔ Spot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799815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61" name="Shape 59"/>
          <p:cNvSpPr/>
          <p:nvPr/>
        </p:nvSpPr>
        <p:spPr>
          <a:xfrm>
            <a:off x="10046638" y="5376165"/>
            <a:ext cx="1371243" cy="1005578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10046638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FREE/OCCUPIED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(OpenCV)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1792687" y="6628567"/>
            <a:ext cx="274249" cy="18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D35394D-33D4-494B-21DF-C51459EC2230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0EA226-D1AA-43D2-0DDD-2E2B6A8E269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90EB76-159E-D7F2-EB83-3317075B43F4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System </a:t>
            </a:r>
            <a:r>
              <a:rPr lang="en-US" sz="2800" b="1" i="0" dirty="0">
                <a:solidFill>
                  <a:srgbClr val="DC143C"/>
                </a:solidFill>
                <a:latin typeface="Calibri"/>
              </a:rPr>
              <a:t>Architecture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26433" y="3794665"/>
            <a:ext cx="2066006" cy="15815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2767888" y="2670048"/>
            <a:ext cx="18288" cy="73152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  <p:sp>
        <p:nvSpPr>
          <p:cNvPr id="72" name="Arrow NMS-to-JSON"/>
          <p:cNvSpPr/>
          <p:nvPr/>
        </p:nvSpPr>
        <p:spPr>
          <a:xfrm>
            <a:off x="2767888" y="3337560"/>
            <a:ext cx="18288" cy="164592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Implementation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Python 3.8+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OpenCV 4.x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9280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Video capture, BEV transform, visualisation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9736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459736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Ultralytics YOLOv11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55117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Object detection &amp; real-time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18104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118104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9125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095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Numerical arrays &amp; distance computation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6791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Configuration file loading (config.yaml)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43484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JSON stdlib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52627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Persistent spot coordinate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97280"/>
            <a:ext cx="5852160" cy="51206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Module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60020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src/main.py           — </a:t>
            </a:r>
            <a:r>
              <a:rPr lang="en-US" sz="10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1A1A2E"/>
                </a:solidFill>
                <a:latin typeface="Calibri"/>
              </a:rPr>
              <a:t>Entry point &amp; main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0848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modules/detector/     — YOLOv11 car detector wrapper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569464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modules/</a:t>
            </a:r>
            <a:r>
              <a:rPr sz="1000" b="0" i="0" dirty="0" err="1">
                <a:solidFill>
                  <a:srgbClr val="1A1A2E"/>
                </a:solidFill>
                <a:latin typeface="Calibri"/>
              </a:rPr>
              <a:t>parking_logic</a:t>
            </a:r>
            <a:r>
              <a:rPr sz="1000" b="0" i="0" dirty="0">
                <a:solidFill>
                  <a:srgbClr val="1A1A2E"/>
                </a:solidFill>
                <a:latin typeface="Calibri"/>
              </a:rPr>
              <a:t>/</a:t>
            </a:r>
            <a:r>
              <a:rPr lang="en-US" sz="1000" b="0" i="0" dirty="0">
                <a:solidFill>
                  <a:srgbClr val="1A1A2E"/>
                </a:solidFill>
                <a:latin typeface="Calibri"/>
              </a:rPr>
              <a:t> </a:t>
            </a:r>
            <a:endParaRPr sz="10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80760" y="3054096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A1A2E"/>
                </a:solidFill>
                <a:latin typeface="Calibri"/>
              </a:rPr>
              <a:t>  </a:t>
            </a:r>
            <a:r>
              <a:rPr lang="en-US" sz="1000" i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000" b="0" i="1" dirty="0">
                <a:solidFill>
                  <a:srgbClr val="1A1A2E"/>
                </a:solidFill>
                <a:latin typeface="Calibri"/>
              </a:rPr>
              <a:t>spot_manager.py   — Spot detection, NMS, BEV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538728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A1A2E"/>
                </a:solidFill>
                <a:latin typeface="Calibri"/>
              </a:rPr>
              <a:t>  </a:t>
            </a:r>
            <a:r>
              <a:rPr lang="en-US" sz="1000" i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000" b="0" i="1" dirty="0">
                <a:solidFill>
                  <a:srgbClr val="1A1A2E"/>
                </a:solidFill>
                <a:latin typeface="Calibri"/>
              </a:rPr>
              <a:t>perspective.py    — Homography / BEV transform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0233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src/visualization.py  — OpenCV drawing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5079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config/config.yaml    — Runtime 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9262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config/spots_data.json— 37 persisted spot coords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4772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config/reference.jpg  — Empty lot reference image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5F146A-F7B4-8569-F1F3-12679A8D04E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1812E9-1ADC-8784-E2D7-7D4865ABCAB4}"/>
              </a:ext>
            </a:extLst>
          </p:cNvPr>
          <p:cNvSpPr/>
          <p:nvPr/>
        </p:nvSpPr>
        <p:spPr>
          <a:xfrm>
            <a:off x="365760" y="5120641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C967F7-B953-5C2F-289D-47E12004C765}"/>
              </a:ext>
            </a:extLst>
          </p:cNvPr>
          <p:cNvSpPr/>
          <p:nvPr/>
        </p:nvSpPr>
        <p:spPr>
          <a:xfrm>
            <a:off x="365760" y="5120641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28A692-41B0-5E1E-4F52-06DA86EE693E}"/>
              </a:ext>
            </a:extLst>
          </p:cNvPr>
          <p:cNvSpPr txBox="1"/>
          <p:nvPr/>
        </p:nvSpPr>
        <p:spPr>
          <a:xfrm>
            <a:off x="548640" y="5193793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 err="1">
                <a:solidFill>
                  <a:srgbClr val="DC143C"/>
                </a:solidFill>
                <a:latin typeface="Calibri"/>
              </a:rPr>
              <a:t>Roboflow</a:t>
            </a:r>
            <a:endParaRPr sz="13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D128A7-62D1-9816-9F3B-4710D138C407}"/>
              </a:ext>
            </a:extLst>
          </p:cNvPr>
          <p:cNvSpPr txBox="1"/>
          <p:nvPr/>
        </p:nvSpPr>
        <p:spPr>
          <a:xfrm>
            <a:off x="2514600" y="521208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A1A2E"/>
                </a:solidFill>
                <a:latin typeface="Calibri"/>
              </a:rPr>
              <a:t>End to end computer vision web platform</a:t>
            </a:r>
            <a:endParaRPr sz="1200" b="0" i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Core Technical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Dual YOLOv11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1048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spots.pt — detects empty bay boundaries from a reference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best.pt — tracks vehicles frame-by-frame in live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972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Each model is specialized, smaller, and more accurate than a single multi-task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Homography / Bird's Eye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4 anchor points map camera view → flat top-down canvas (400 × 800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px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5280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Car's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tyre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contact point &amp; spot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centre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both projected to BEV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04123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Eliminates perspective-induced scale variation between near/far spots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Distance-Based Greedy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7335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All (car, spot) BEV distance pairs computed each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2141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Sorted ascending — closest pairs assigned first (greedy, O(K log K))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88339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70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px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BEV threshold rejects implausible matches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143C"/>
                </a:solidFill>
                <a:latin typeface="Calibri"/>
              </a:rPr>
              <a:t>Self-Healing Recalibration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2511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Simulated clock triggers spot re-scan at 2:00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7643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Only fires when ≤ 2 cars detected (low traffic window)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3800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Re-saves spots_data.json — no human annotation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BA9528-908D-BEB1-628E-1D86E624B3D8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664" y="1036943"/>
            <a:ext cx="5484971" cy="731330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365664" y="1036943"/>
            <a:ext cx="54849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spots.pt  —  Spot Detector</a:t>
            </a:r>
            <a:endParaRPr lang="en-US" sz="1866" dirty="0"/>
          </a:p>
        </p:txBody>
      </p:sp>
      <p:sp>
        <p:nvSpPr>
          <p:cNvPr id="6" name="Shape 4"/>
          <p:cNvSpPr/>
          <p:nvPr/>
        </p:nvSpPr>
        <p:spPr>
          <a:xfrm>
            <a:off x="365664" y="182921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87552" y="182921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1767379" y="182921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reference image (config/reference.jpg)</a:t>
            </a:r>
            <a:endParaRPr lang="en-US" sz="1466" dirty="0"/>
          </a:p>
        </p:txBody>
      </p:sp>
      <p:sp>
        <p:nvSpPr>
          <p:cNvPr id="9" name="Shape 7"/>
          <p:cNvSpPr/>
          <p:nvPr/>
        </p:nvSpPr>
        <p:spPr>
          <a:xfrm>
            <a:off x="365664" y="265805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87552" y="265805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1767379" y="265805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startup; again at 2 AM self-heal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365664" y="348689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7552" y="348689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1767379" y="348689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empty parking bay boundaries via YOLO</a:t>
            </a:r>
            <a:endParaRPr lang="en-US" sz="1466" dirty="0"/>
          </a:p>
        </p:txBody>
      </p:sp>
      <p:sp>
        <p:nvSpPr>
          <p:cNvPr id="15" name="Shape 13"/>
          <p:cNvSpPr/>
          <p:nvPr/>
        </p:nvSpPr>
        <p:spPr>
          <a:xfrm>
            <a:off x="365664" y="431573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87552" y="431573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66" dirty="0"/>
          </a:p>
        </p:txBody>
      </p:sp>
      <p:sp>
        <p:nvSpPr>
          <p:cNvPr id="17" name="Text 15"/>
          <p:cNvSpPr/>
          <p:nvPr/>
        </p:nvSpPr>
        <p:spPr>
          <a:xfrm>
            <a:off x="1767379" y="431573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bounding boxes → saved to spots_data.json</a:t>
            </a:r>
            <a:endParaRPr lang="en-US" sz="1466" dirty="0"/>
          </a:p>
        </p:txBody>
      </p:sp>
      <p:sp>
        <p:nvSpPr>
          <p:cNvPr id="18" name="Shape 16"/>
          <p:cNvSpPr/>
          <p:nvPr/>
        </p:nvSpPr>
        <p:spPr>
          <a:xfrm>
            <a:off x="6460077" y="1036943"/>
            <a:ext cx="5484971" cy="731330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60077" y="1036943"/>
            <a:ext cx="54849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 —  Vehicle Detector  (y11s ★)</a:t>
            </a:r>
            <a:endParaRPr lang="en-US" sz="1866" dirty="0"/>
          </a:p>
        </p:txBody>
      </p:sp>
      <p:sp>
        <p:nvSpPr>
          <p:cNvPr id="20" name="Shape 18"/>
          <p:cNvSpPr/>
          <p:nvPr/>
        </p:nvSpPr>
        <p:spPr>
          <a:xfrm>
            <a:off x="6460077" y="182921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581965" y="182921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66" dirty="0"/>
          </a:p>
        </p:txBody>
      </p:sp>
      <p:sp>
        <p:nvSpPr>
          <p:cNvPr id="22" name="Text 20"/>
          <p:cNvSpPr/>
          <p:nvPr/>
        </p:nvSpPr>
        <p:spPr>
          <a:xfrm>
            <a:off x="7861792" y="182921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video frame (real-time stream)</a:t>
            </a:r>
            <a:endParaRPr lang="en-US" sz="1466" dirty="0"/>
          </a:p>
        </p:txBody>
      </p:sp>
      <p:sp>
        <p:nvSpPr>
          <p:cNvPr id="23" name="Shape 21"/>
          <p:cNvSpPr/>
          <p:nvPr/>
        </p:nvSpPr>
        <p:spPr>
          <a:xfrm>
            <a:off x="6460077" y="265805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581965" y="265805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66" dirty="0"/>
          </a:p>
        </p:txBody>
      </p:sp>
      <p:sp>
        <p:nvSpPr>
          <p:cNvPr id="25" name="Text 23"/>
          <p:cNvSpPr/>
          <p:nvPr/>
        </p:nvSpPr>
        <p:spPr>
          <a:xfrm>
            <a:off x="7861792" y="265805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continuously</a:t>
            </a:r>
            <a:endParaRPr lang="en-US" sz="1466" dirty="0"/>
          </a:p>
        </p:txBody>
      </p:sp>
      <p:sp>
        <p:nvSpPr>
          <p:cNvPr id="26" name="Shape 24"/>
          <p:cNvSpPr/>
          <p:nvPr/>
        </p:nvSpPr>
        <p:spPr>
          <a:xfrm>
            <a:off x="6460077" y="348689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581965" y="348689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66" dirty="0"/>
          </a:p>
        </p:txBody>
      </p:sp>
      <p:sp>
        <p:nvSpPr>
          <p:cNvPr id="28" name="Text 26"/>
          <p:cNvSpPr/>
          <p:nvPr/>
        </p:nvSpPr>
        <p:spPr>
          <a:xfrm>
            <a:off x="7861792" y="348689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track vehicles with persist IDs</a:t>
            </a:r>
            <a:endParaRPr lang="en-US" sz="1466" dirty="0"/>
          </a:p>
        </p:txBody>
      </p:sp>
      <p:sp>
        <p:nvSpPr>
          <p:cNvPr id="29" name="Shape 27"/>
          <p:cNvSpPr/>
          <p:nvPr/>
        </p:nvSpPr>
        <p:spPr>
          <a:xfrm>
            <a:off x="6460077" y="431573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581965" y="431573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66" dirty="0"/>
          </a:p>
        </p:txBody>
      </p:sp>
      <p:sp>
        <p:nvSpPr>
          <p:cNvPr id="31" name="Text 29"/>
          <p:cNvSpPr/>
          <p:nvPr/>
        </p:nvSpPr>
        <p:spPr>
          <a:xfrm>
            <a:off x="7861792" y="431573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+ confidence score + track ID per car</a:t>
            </a:r>
            <a:endParaRPr lang="en-US" sz="1466" dirty="0"/>
          </a:p>
        </p:txBody>
      </p:sp>
      <p:sp>
        <p:nvSpPr>
          <p:cNvPr id="32" name="Text 30"/>
          <p:cNvSpPr/>
          <p:nvPr/>
        </p:nvSpPr>
        <p:spPr>
          <a:xfrm>
            <a:off x="365664" y="5821057"/>
            <a:ext cx="11457496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dedicated models &gt; one unified model: each optimised for its task → higher accuracy, lower compute per frame</a:t>
            </a:r>
            <a:endParaRPr lang="en-US" sz="1400" b="1" dirty="0">
              <a:solidFill>
                <a:srgbClr val="DC143C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DE52F6-FF76-1721-BA46-DFC83321357C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2C79CE-D3FD-E89A-C767-F2255BEE8075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DC143C"/>
                </a:solidFill>
                <a:latin typeface="Calibri"/>
              </a:rPr>
              <a:t>Dual-Model Architecture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604040-0908-26F3-1E08-4137202747A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0" y="660196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46E7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552" y="893"/>
            <a:ext cx="10969943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Annotation</a:t>
            </a:r>
            <a:endParaRPr lang="en-US" sz="29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6460077" cy="3656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664" y="4693590"/>
            <a:ext cx="6460077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KMITL Campus Security Camera — Parking Area</a:t>
            </a:r>
            <a:endParaRPr lang="en-US" sz="1333" dirty="0"/>
          </a:p>
        </p:txBody>
      </p:sp>
      <p:sp>
        <p:nvSpPr>
          <p:cNvPr id="6" name="Shape 3"/>
          <p:cNvSpPr/>
          <p:nvPr/>
        </p:nvSpPr>
        <p:spPr>
          <a:xfrm>
            <a:off x="7069518" y="1036942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7191406" y="1036942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Source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1618" y="1036942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KMITL CCTV (existing infrastructure)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069518" y="1768272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 sz="2399"/>
          </a:p>
        </p:txBody>
      </p:sp>
      <p:sp>
        <p:nvSpPr>
          <p:cNvPr id="10" name="Text 7"/>
          <p:cNvSpPr/>
          <p:nvPr/>
        </p:nvSpPr>
        <p:spPr>
          <a:xfrm>
            <a:off x="7191406" y="1768272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Period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1618" y="1768272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069518" y="2499601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0"/>
          <p:cNvSpPr/>
          <p:nvPr/>
        </p:nvSpPr>
        <p:spPr>
          <a:xfrm>
            <a:off x="7191406" y="2499601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 / Day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1618" y="2499601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(Morning · Afternoon · Evening · Night)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69518" y="3230931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7191406" y="3230931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/ Window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1618" y="3230931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69518" y="3962260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7191406" y="3962260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Frames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1618" y="3962260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69518" y="4693590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19"/>
          <p:cNvSpPr/>
          <p:nvPr/>
        </p:nvSpPr>
        <p:spPr>
          <a:xfrm>
            <a:off x="7191406" y="4693590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Classes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1618" y="4693590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Spot  &amp;  Vehicle / Car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069518" y="5485864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2"/>
          <p:cNvSpPr/>
          <p:nvPr/>
        </p:nvSpPr>
        <p:spPr>
          <a:xfrm>
            <a:off x="7191406" y="5485864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1618" y="5485864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69518" y="6147887"/>
            <a:ext cx="4753642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Time-stratified sampling → training data covers full day/night lighting range</a:t>
            </a:r>
            <a:endParaRPr lang="en-US" sz="1266" dirty="0"/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2E77FEF6-6A7A-121D-B61E-F4D72D34AB07}"/>
              </a:ext>
            </a:extLst>
          </p:cNvPr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Dataset Collection &amp; Annotation</a:t>
            </a:r>
          </a:p>
        </p:txBody>
      </p:sp>
      <p:sp>
        <p:nvSpPr>
          <p:cNvPr id="30" name="TopBar">
            <a:extLst>
              <a:ext uri="{FF2B5EF4-FFF2-40B4-BE49-F238E27FC236}">
                <a16:creationId xmlns:a16="http://schemas.microsoft.com/office/drawing/2014/main" id="{E7A3065D-CC8B-EBE8-25A5-8FE0B26B84F1}"/>
              </a:ext>
            </a:extLst>
          </p:cNvPr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42464-211E-CA4B-22AF-85DD27183381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12880" y="660196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46E7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4E09F31-7FFB-BEF5-7450-D99BF88DDD68}"/>
              </a:ext>
            </a:extLst>
          </p:cNvPr>
          <p:cNvSpPr txBox="1"/>
          <p:nvPr/>
        </p:nvSpPr>
        <p:spPr>
          <a:xfrm>
            <a:off x="457200" y="182880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(BEV) Occupancy Matching</a:t>
            </a:r>
            <a:endParaRPr lang="en-US" sz="2800" dirty="0">
              <a:solidFill>
                <a:srgbClr val="DC143C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6094413" cy="34372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664" y="4474192"/>
            <a:ext cx="609441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view — perspective distortion visible</a:t>
            </a:r>
            <a:endParaRPr lang="en-US" sz="1266" dirty="0"/>
          </a:p>
        </p:txBody>
      </p:sp>
      <p:sp>
        <p:nvSpPr>
          <p:cNvPr id="6" name="Shape 3"/>
          <p:cNvSpPr/>
          <p:nvPr/>
        </p:nvSpPr>
        <p:spPr>
          <a:xfrm>
            <a:off x="6825741" y="1036943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6825741" y="1036943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7496127" y="807157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Calibration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496127" y="1187999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ground-plane anchor points → 3×3 matrix maps trapezoidal camera region to flat 400×800 px BEV canvas</a:t>
            </a:r>
            <a:endParaRPr lang="en-US" sz="1466" dirty="0"/>
          </a:p>
        </p:txBody>
      </p:sp>
      <p:sp>
        <p:nvSpPr>
          <p:cNvPr id="10" name="Shape 7"/>
          <p:cNvSpPr/>
          <p:nvPr/>
        </p:nvSpPr>
        <p:spPr>
          <a:xfrm>
            <a:off x="6825741" y="2926211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8"/>
          <p:cNvSpPr/>
          <p:nvPr/>
        </p:nvSpPr>
        <p:spPr>
          <a:xfrm>
            <a:off x="6825741" y="2926211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2" name="Text 9"/>
          <p:cNvSpPr/>
          <p:nvPr/>
        </p:nvSpPr>
        <p:spPr>
          <a:xfrm>
            <a:off x="7496127" y="2696425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Projection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96127" y="3077266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 bottom-center (tyre contact point) and spot centers both transformed to scale-normalized BEV coordinates</a:t>
            </a:r>
            <a:endParaRPr lang="en-US" sz="1466" dirty="0"/>
          </a:p>
        </p:txBody>
      </p:sp>
      <p:sp>
        <p:nvSpPr>
          <p:cNvPr id="14" name="Shape 11"/>
          <p:cNvSpPr/>
          <p:nvPr/>
        </p:nvSpPr>
        <p:spPr>
          <a:xfrm>
            <a:off x="6825741" y="4815479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6825741" y="4815479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6" name="Text 13"/>
          <p:cNvSpPr/>
          <p:nvPr/>
        </p:nvSpPr>
        <p:spPr>
          <a:xfrm>
            <a:off x="7496127" y="4585693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Matching  O(K log K)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96127" y="4966534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(car, spot) pairs scored by Euclidean distance in BEV. 70 px threshold filters implausible matches.</a:t>
            </a:r>
            <a:endParaRPr lang="en-US" sz="1466" dirty="0"/>
          </a:p>
        </p:txBody>
      </p:sp>
      <p:sp>
        <p:nvSpPr>
          <p:cNvPr id="18" name="Text 15"/>
          <p:cNvSpPr/>
          <p:nvPr/>
        </p:nvSpPr>
        <p:spPr>
          <a:xfrm>
            <a:off x="2887503" y="6211945"/>
            <a:ext cx="6520022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70 px threshold works correctly across the entire lot — near and far from camera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6B0F10-6214-B2E2-FC18-4B4E326B2815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B0273E-8DE6-AD7D-D775-ADD774BA6129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0" y="660196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46E7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6984-A991-4FF1-F157-BB8DDDDE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D2A9522-17B0-762E-8D68-6F06D6479C3C}"/>
              </a:ext>
            </a:extLst>
          </p:cNvPr>
          <p:cNvSpPr txBox="1"/>
          <p:nvPr/>
        </p:nvSpPr>
        <p:spPr>
          <a:xfrm>
            <a:off x="457200" y="182880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(BEV) Occupancy Matching</a:t>
            </a:r>
            <a:endParaRPr lang="en-US" sz="2800" dirty="0">
              <a:solidFill>
                <a:srgbClr val="DC143C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CAF7390-3A6E-4FE1-D2D0-E2B5F54CEE2A}"/>
              </a:ext>
            </a:extLst>
          </p:cNvPr>
          <p:cNvSpPr/>
          <p:nvPr/>
        </p:nvSpPr>
        <p:spPr>
          <a:xfrm>
            <a:off x="4014807" y="1250032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1B2648D-7CF0-370F-029E-3CDBC4228938}"/>
              </a:ext>
            </a:extLst>
          </p:cNvPr>
          <p:cNvSpPr/>
          <p:nvPr/>
        </p:nvSpPr>
        <p:spPr>
          <a:xfrm>
            <a:off x="756659" y="1067423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Calibration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AFE1399-03F2-64B0-E449-E7EFC835C97B}"/>
              </a:ext>
            </a:extLst>
          </p:cNvPr>
          <p:cNvSpPr/>
          <p:nvPr/>
        </p:nvSpPr>
        <p:spPr>
          <a:xfrm>
            <a:off x="756659" y="1448265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ground-plane anchor points → 3×3 matrix maps trapezoidal camera region to flat 400×800 px BEV canvas</a:t>
            </a:r>
            <a:endParaRPr lang="en-US" sz="1466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D686C-A372-5050-E7FE-B8FEA6459E7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58E8E9-3719-32B8-4BAD-D13A4502295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0004FF-13C4-96F3-E798-5C89E88E5268}"/>
              </a:ext>
            </a:extLst>
          </p:cNvPr>
          <p:cNvSpPr txBox="1"/>
          <p:nvPr/>
        </p:nvSpPr>
        <p:spPr>
          <a:xfrm>
            <a:off x="11769997" y="660196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0" dirty="0">
                <a:solidFill>
                  <a:srgbClr val="546E7A"/>
                </a:solidFill>
              </a:rPr>
              <a:t>13</a:t>
            </a:r>
            <a:endParaRPr sz="900" b="0" dirty="0">
              <a:solidFill>
                <a:srgbClr val="546E7A"/>
              </a:solidFill>
            </a:endParaRPr>
          </a:p>
        </p:txBody>
      </p:sp>
      <p:pic>
        <p:nvPicPr>
          <p:cNvPr id="25" name="Picture 24" descr="homography_calibration.jpg">
            <a:extLst>
              <a:ext uri="{FF2B5EF4-FFF2-40B4-BE49-F238E27FC236}">
                <a16:creationId xmlns:a16="http://schemas.microsoft.com/office/drawing/2014/main" id="{5B631995-D8CF-06E8-99B8-DEEA3CF67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2324178"/>
            <a:ext cx="10487066" cy="30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2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8A74-BB72-B562-287C-ED345E7E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56B623B-4F20-185F-763B-4846BE8FD4F7}"/>
              </a:ext>
            </a:extLst>
          </p:cNvPr>
          <p:cNvSpPr txBox="1"/>
          <p:nvPr/>
        </p:nvSpPr>
        <p:spPr>
          <a:xfrm>
            <a:off x="457200" y="182880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(BEV) Occupancy Matching</a:t>
            </a:r>
            <a:endParaRPr lang="en-US" sz="2800" dirty="0">
              <a:solidFill>
                <a:srgbClr val="DC143C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69AFE8A-5127-07D8-D444-11A9643C6372}"/>
              </a:ext>
            </a:extLst>
          </p:cNvPr>
          <p:cNvSpPr/>
          <p:nvPr/>
        </p:nvSpPr>
        <p:spPr>
          <a:xfrm>
            <a:off x="4014807" y="1250032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0065979-8013-DDC1-4DAF-3D62A9F01A84}"/>
              </a:ext>
            </a:extLst>
          </p:cNvPr>
          <p:cNvSpPr/>
          <p:nvPr/>
        </p:nvSpPr>
        <p:spPr>
          <a:xfrm>
            <a:off x="756659" y="1067423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Projection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E5D9C8B-6717-E65A-B36D-DC4B37DAFF0B}"/>
              </a:ext>
            </a:extLst>
          </p:cNvPr>
          <p:cNvSpPr/>
          <p:nvPr/>
        </p:nvSpPr>
        <p:spPr>
          <a:xfrm>
            <a:off x="756659" y="1448265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 bottom-center (</a:t>
            </a:r>
            <a:r>
              <a:rPr lang="en-US" sz="1466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tyre</a:t>
            </a:r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contact point) and spot centers both transformed to scale-normalized BEV coordinates</a:t>
            </a:r>
            <a:endParaRPr lang="en-US" sz="1466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AB85F-783D-EC94-9FC5-CF5C92908F61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9F6BD6-041F-95E3-ADEB-74417C9405B8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5D41E2-294C-0EF6-D121-0BE69C214D17}"/>
              </a:ext>
            </a:extLst>
          </p:cNvPr>
          <p:cNvSpPr txBox="1"/>
          <p:nvPr/>
        </p:nvSpPr>
        <p:spPr>
          <a:xfrm>
            <a:off x="11769997" y="660196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0" dirty="0">
                <a:solidFill>
                  <a:srgbClr val="546E7A"/>
                </a:solidFill>
              </a:rPr>
              <a:t>14</a:t>
            </a:r>
            <a:endParaRPr sz="900" b="0" dirty="0">
              <a:solidFill>
                <a:srgbClr val="546E7A"/>
              </a:solidFill>
            </a:endParaRPr>
          </a:p>
        </p:txBody>
      </p:sp>
      <p:pic>
        <p:nvPicPr>
          <p:cNvPr id="25" name="Picture 24" descr="homography_calibration.jpg">
            <a:extLst>
              <a:ext uri="{FF2B5EF4-FFF2-40B4-BE49-F238E27FC236}">
                <a16:creationId xmlns:a16="http://schemas.microsoft.com/office/drawing/2014/main" id="{6F167988-57F8-C164-D071-898A3B352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2324178"/>
            <a:ext cx="10487066" cy="3098451"/>
          </a:xfrm>
          <a:prstGeom prst="rect">
            <a:avLst/>
          </a:prstGeom>
        </p:spPr>
      </p:pic>
      <p:pic>
        <p:nvPicPr>
          <p:cNvPr id="2" name="Picture 1" descr="bev_projection.jpg">
            <a:extLst>
              <a:ext uri="{FF2B5EF4-FFF2-40B4-BE49-F238E27FC236}">
                <a16:creationId xmlns:a16="http://schemas.microsoft.com/office/drawing/2014/main" id="{4DBE83A8-C623-E2E6-3ED8-0134CBB6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80" y="2324178"/>
            <a:ext cx="10487066" cy="30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49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8545-79AD-A828-5064-28FA5E7D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C6BD04E-9D61-AF59-CC7D-BC5EFDA76164}"/>
              </a:ext>
            </a:extLst>
          </p:cNvPr>
          <p:cNvSpPr txBox="1"/>
          <p:nvPr/>
        </p:nvSpPr>
        <p:spPr>
          <a:xfrm>
            <a:off x="457200" y="182880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(BEV) Occupancy Matching</a:t>
            </a:r>
            <a:endParaRPr lang="en-US" sz="2800" dirty="0">
              <a:solidFill>
                <a:srgbClr val="DC143C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36DAD3F-E5D9-7D8D-C770-A580388984A8}"/>
              </a:ext>
            </a:extLst>
          </p:cNvPr>
          <p:cNvSpPr/>
          <p:nvPr/>
        </p:nvSpPr>
        <p:spPr>
          <a:xfrm>
            <a:off x="4014807" y="1250032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7AD3A7A-5ECF-0F56-2419-622A1362637C}"/>
              </a:ext>
            </a:extLst>
          </p:cNvPr>
          <p:cNvSpPr/>
          <p:nvPr/>
        </p:nvSpPr>
        <p:spPr>
          <a:xfrm>
            <a:off x="756659" y="1067423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Matching  O(K log K)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9FEE256-7E04-6D1F-9F5C-EC8236E1A0AB}"/>
              </a:ext>
            </a:extLst>
          </p:cNvPr>
          <p:cNvSpPr/>
          <p:nvPr/>
        </p:nvSpPr>
        <p:spPr>
          <a:xfrm>
            <a:off x="756659" y="1448265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(car, spot) pairs scored by Euclidean distance in BEV. 70 </a:t>
            </a:r>
            <a:r>
              <a:rPr lang="en-US" sz="1466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threshold filters implausible matches.</a:t>
            </a:r>
            <a:endParaRPr lang="en-US" sz="1466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19836D-153E-4958-0A6B-A605FCCC53E4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34DEAD-61CC-ED42-54DE-8FF83965AEE7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94DD3D-6F57-BE4F-DC55-334CB72017AF}"/>
              </a:ext>
            </a:extLst>
          </p:cNvPr>
          <p:cNvSpPr txBox="1"/>
          <p:nvPr/>
        </p:nvSpPr>
        <p:spPr>
          <a:xfrm>
            <a:off x="11769997" y="660196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0" dirty="0">
                <a:solidFill>
                  <a:srgbClr val="546E7A"/>
                </a:solidFill>
              </a:rPr>
              <a:t>15</a:t>
            </a:r>
            <a:endParaRPr sz="900" b="0" dirty="0">
              <a:solidFill>
                <a:srgbClr val="546E7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76404-B360-745B-91AF-8DF8A13E9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8" y="2183246"/>
            <a:ext cx="6407148" cy="44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2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Training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92608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5270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75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048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Image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32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640 × 640 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20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Batch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895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192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3467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AdamW (auto)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039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IoU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039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336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Pre-trained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61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 — COCO weights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908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18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Conf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718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0.15 (inference)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Four Variants Trained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508760"/>
            <a:ext cx="804672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67785" y="16002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7905" y="160020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425" y="160020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265" y="160020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19476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67785" y="20482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y11n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7905" y="20482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425" y="20482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Standard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265" y="20482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Smallest / fastest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404872"/>
            <a:ext cx="8046720" cy="43891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67785" y="25054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5" y="25054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YOLOv11 Small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425" y="25054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Standard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265" y="2505456"/>
            <a:ext cx="2926080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★ SELECTED — best 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8620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67785" y="29626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y26n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7905" y="29626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425" y="29626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265" y="29626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Tests class breadth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319272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67785" y="34198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y26s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7905" y="34198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Small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2425" y="34198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1265" y="34198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Comparison baseline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70"/>
                </a:solidFill>
                <a:latin typeface="Calibri"/>
              </a:rPr>
              <a:t>All models trained with identical hyperparameters for fair comparison.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606070"/>
                </a:solidFill>
                <a:latin typeface="Calibri"/>
              </a:rPr>
              <a:t>16</a:t>
            </a:r>
            <a:endParaRPr sz="900" b="0" i="0" dirty="0">
              <a:solidFill>
                <a:srgbClr val="606070"/>
              </a:solidFill>
              <a:latin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C29BC0-5615-F74B-2B6E-7529E4F7055A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Training Convergence — y11s Model (50 Epochs)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Calibri"/>
              </a:rPr>
              <a:t>17</a:t>
            </a:r>
            <a:endParaRPr sz="100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71189-C257-F05A-8EDA-24155AACCBA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562A1E-A140-740D-ABB5-51213412B7ED}"/>
              </a:ext>
            </a:extLst>
          </p:cNvPr>
          <p:cNvSpPr/>
          <p:nvPr/>
        </p:nvSpPr>
        <p:spPr>
          <a:xfrm>
            <a:off x="1582420" y="569442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Training &amp; validation loss curves + key metrics for y11s across 50 epochs.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0958279-77F5-FBDF-0685-DE7CB4D6878D}"/>
              </a:ext>
            </a:extLst>
          </p:cNvPr>
          <p:cNvSpPr/>
          <p:nvPr/>
        </p:nvSpPr>
        <p:spPr>
          <a:xfrm>
            <a:off x="1582420" y="602361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loss components decrease monotonically — stable convergence, no overfitting. Validation closely tracks training.</a:t>
            </a:r>
            <a:endParaRPr lang="en-US" sz="1200" dirty="0">
              <a:solidFill>
                <a:srgbClr val="DC143C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221F3EF-8456-4FF7-E5B6-730D04F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3784" y="905256"/>
            <a:ext cx="11521255" cy="47188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Precision-Recall &amp; F1 Analysis — y11s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Calibri"/>
              </a:rPr>
              <a:t>18</a:t>
            </a:r>
            <a:endParaRPr sz="1000" dirty="0">
              <a:solidFill>
                <a:srgbClr val="888888"/>
              </a:solidFill>
              <a:latin typeface="Calibri"/>
            </a:endParaRP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5760225" cy="4343640"/>
          </a:xfrm>
          <a:prstGeom prst="rect">
            <a:avLst/>
          </a:prstGeom>
        </p:spPr>
      </p:pic>
      <p:pic>
        <p:nvPicPr>
          <p:cNvPr id="11" name="Img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800" y="868680"/>
            <a:ext cx="5760225" cy="4343640"/>
          </a:xfrm>
          <a:prstGeom prst="rect">
            <a:avLst/>
          </a:prstGeom>
        </p:spPr>
      </p:pic>
      <p:sp>
        <p:nvSpPr>
          <p:cNvPr id="20" name="TB20"/>
          <p:cNvSpPr txBox="1"/>
          <p:nvPr/>
        </p:nvSpPr>
        <p:spPr>
          <a:xfrm>
            <a:off x="679449" y="5286139"/>
            <a:ext cx="3302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888888"/>
                </a:solidFill>
                <a:latin typeface="Calibri"/>
              </a:rPr>
              <a:t>Figure 2. Precision-Recall Curve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654799" y="5286139"/>
            <a:ext cx="3530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888888"/>
                </a:solidFill>
                <a:latin typeface="Calibri"/>
              </a:rPr>
              <a:t>Figure 3. F1-Confidence Curve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400050" y="5949961"/>
            <a:ext cx="11274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DC143C"/>
                </a:solidFill>
                <a:latin typeface="Calibri"/>
              </a:rPr>
              <a:t>High area under PR curve confirms robustness across confidence thresholds  ·  Peak F1 &gt; 0.95 at confidence ≈ 0.4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105B6-29FE-1D58-98DA-900B1CD8B03D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Confusion Matrix &amp; Sample Validation Predictions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Calibri"/>
              </a:rPr>
              <a:t>19</a:t>
            </a:r>
            <a:endParaRPr sz="1000" dirty="0">
              <a:solidFill>
                <a:srgbClr val="888888"/>
              </a:solidFill>
              <a:latin typeface="Calibri"/>
            </a:endParaRP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5760225" cy="4571928"/>
          </a:xfrm>
          <a:prstGeom prst="rect">
            <a:avLst/>
          </a:prstGeom>
        </p:spPr>
      </p:pic>
      <p:pic>
        <p:nvPicPr>
          <p:cNvPr id="11" name="Img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868680"/>
            <a:ext cx="5560225" cy="45719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661066-BDCB-7D26-BC16-8239ED0BFD8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B20">
            <a:extLst>
              <a:ext uri="{FF2B5EF4-FFF2-40B4-BE49-F238E27FC236}">
                <a16:creationId xmlns:a16="http://schemas.microsoft.com/office/drawing/2014/main" id="{37BA83A4-5F56-FEC0-81EB-F1D6325001E6}"/>
              </a:ext>
            </a:extLst>
          </p:cNvPr>
          <p:cNvSpPr txBox="1"/>
          <p:nvPr/>
        </p:nvSpPr>
        <p:spPr>
          <a:xfrm>
            <a:off x="1457711" y="5475618"/>
            <a:ext cx="3302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88888"/>
                </a:solidFill>
              </a:rPr>
              <a:t>Figure 4. </a:t>
            </a:r>
            <a:r>
              <a:rPr lang="en-US" sz="1000" dirty="0" err="1">
                <a:solidFill>
                  <a:srgbClr val="888888"/>
                </a:solidFill>
              </a:rPr>
              <a:t>Normalised</a:t>
            </a:r>
            <a:r>
              <a:rPr lang="en-US" sz="1000" dirty="0">
                <a:solidFill>
                  <a:srgbClr val="888888"/>
                </a:solidFill>
              </a:rPr>
              <a:t> Confusion Matrix — y11s validation set</a:t>
            </a:r>
          </a:p>
        </p:txBody>
      </p:sp>
      <p:sp>
        <p:nvSpPr>
          <p:cNvPr id="6" name="TB21">
            <a:extLst>
              <a:ext uri="{FF2B5EF4-FFF2-40B4-BE49-F238E27FC236}">
                <a16:creationId xmlns:a16="http://schemas.microsoft.com/office/drawing/2014/main" id="{BE080BF8-E3A4-A2AD-CD8B-E551E154E394}"/>
              </a:ext>
            </a:extLst>
          </p:cNvPr>
          <p:cNvSpPr txBox="1"/>
          <p:nvPr/>
        </p:nvSpPr>
        <p:spPr>
          <a:xfrm>
            <a:off x="6831117" y="5475617"/>
            <a:ext cx="46995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88888"/>
                </a:solidFill>
              </a:rPr>
              <a:t>Figure 5. Sample validation batch predictions — y11s (high confidence, diverse scenes)</a:t>
            </a: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F10EE18B-3D64-7584-70F9-C87CBFB037F4}"/>
              </a:ext>
            </a:extLst>
          </p:cNvPr>
          <p:cNvSpPr txBox="1"/>
          <p:nvPr/>
        </p:nvSpPr>
        <p:spPr>
          <a:xfrm>
            <a:off x="400050" y="5949961"/>
            <a:ext cx="11274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DC143C"/>
                </a:solidFill>
              </a:rPr>
              <a:t>High on-diagonal values confirm reliable classification — minimal false positives and false negatives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8288401" cy="4680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31" y="5761884"/>
            <a:ext cx="86540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config/reference.jpg — spots.pt detected 37 parking bays at 2688×1520 px. Coordinates saved to spots_data.json.</a:t>
            </a:r>
            <a:endParaRPr lang="en-US" sz="1333" dirty="0"/>
          </a:p>
        </p:txBody>
      </p:sp>
      <p:sp>
        <p:nvSpPr>
          <p:cNvPr id="6" name="Shape 3"/>
          <p:cNvSpPr/>
          <p:nvPr/>
        </p:nvSpPr>
        <p:spPr>
          <a:xfrm>
            <a:off x="9019730" y="777240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4"/>
          <p:cNvSpPr/>
          <p:nvPr/>
        </p:nvSpPr>
        <p:spPr>
          <a:xfrm>
            <a:off x="9019730" y="777240"/>
            <a:ext cx="85322" cy="99948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9165996" y="801618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66" dirty="0"/>
          </a:p>
        </p:txBody>
      </p:sp>
      <p:sp>
        <p:nvSpPr>
          <p:cNvPr id="9" name="Text 6"/>
          <p:cNvSpPr/>
          <p:nvPr/>
        </p:nvSpPr>
        <p:spPr>
          <a:xfrm>
            <a:off x="9165996" y="1313549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Bays detected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9019730" y="1874234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9019730" y="1874234"/>
            <a:ext cx="85322" cy="99948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9165996" y="1898612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2688×1520</a:t>
            </a:r>
            <a:endParaRPr lang="en-US" sz="2666" dirty="0"/>
          </a:p>
        </p:txBody>
      </p:sp>
      <p:sp>
        <p:nvSpPr>
          <p:cNvPr id="13" name="Text 10"/>
          <p:cNvSpPr/>
          <p:nvPr/>
        </p:nvSpPr>
        <p:spPr>
          <a:xfrm>
            <a:off x="9165996" y="2410543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resolution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9019730" y="2971229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Shape 12"/>
          <p:cNvSpPr/>
          <p:nvPr/>
        </p:nvSpPr>
        <p:spPr>
          <a:xfrm>
            <a:off x="9019730" y="2971229"/>
            <a:ext cx="85322" cy="99948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9165996" y="2995606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2666" dirty="0"/>
          </a:p>
        </p:txBody>
      </p:sp>
      <p:sp>
        <p:nvSpPr>
          <p:cNvPr id="17" name="Text 14"/>
          <p:cNvSpPr/>
          <p:nvPr/>
        </p:nvSpPr>
        <p:spPr>
          <a:xfrm>
            <a:off x="9165996" y="3507537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startup only</a:t>
            </a:r>
            <a:endParaRPr lang="en-US" sz="1333" dirty="0"/>
          </a:p>
        </p:txBody>
      </p:sp>
      <p:sp>
        <p:nvSpPr>
          <p:cNvPr id="18" name="Shape 15"/>
          <p:cNvSpPr/>
          <p:nvPr/>
        </p:nvSpPr>
        <p:spPr>
          <a:xfrm>
            <a:off x="9019730" y="4068223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9" name="Shape 16"/>
          <p:cNvSpPr/>
          <p:nvPr/>
        </p:nvSpPr>
        <p:spPr>
          <a:xfrm>
            <a:off x="9019730" y="4068223"/>
            <a:ext cx="85322" cy="99948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9165996" y="4092601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AM</a:t>
            </a:r>
            <a:endParaRPr lang="en-US" sz="2666" dirty="0"/>
          </a:p>
        </p:txBody>
      </p:sp>
      <p:sp>
        <p:nvSpPr>
          <p:cNvPr id="21" name="Text 18"/>
          <p:cNvSpPr/>
          <p:nvPr/>
        </p:nvSpPr>
        <p:spPr>
          <a:xfrm>
            <a:off x="9165996" y="4604531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Auto-recalibration</a:t>
            </a:r>
            <a:endParaRPr lang="en-US" sz="1333" dirty="0"/>
          </a:p>
        </p:txBody>
      </p:sp>
      <p:sp>
        <p:nvSpPr>
          <p:cNvPr id="22" name="Shape 19"/>
          <p:cNvSpPr/>
          <p:nvPr/>
        </p:nvSpPr>
        <p:spPr>
          <a:xfrm>
            <a:off x="9019730" y="5165217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9019730" y="5165217"/>
            <a:ext cx="85322" cy="999484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9165996" y="5189595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666" dirty="0"/>
          </a:p>
        </p:txBody>
      </p:sp>
      <p:sp>
        <p:nvSpPr>
          <p:cNvPr id="25" name="Text 22"/>
          <p:cNvSpPr/>
          <p:nvPr/>
        </p:nvSpPr>
        <p:spPr>
          <a:xfrm>
            <a:off x="9165996" y="5701526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persisted</a:t>
            </a:r>
            <a:endParaRPr lang="en-US" sz="1333" dirty="0"/>
          </a:p>
        </p:txBody>
      </p:sp>
      <p:sp>
        <p:nvSpPr>
          <p:cNvPr id="26" name="TopBar">
            <a:extLst>
              <a:ext uri="{FF2B5EF4-FFF2-40B4-BE49-F238E27FC236}">
                <a16:creationId xmlns:a16="http://schemas.microsoft.com/office/drawing/2014/main" id="{330F6253-535D-7836-793F-481EE2727363}"/>
              </a:ext>
            </a:extLst>
          </p:cNvPr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itle">
            <a:extLst>
              <a:ext uri="{FF2B5EF4-FFF2-40B4-BE49-F238E27FC236}">
                <a16:creationId xmlns:a16="http://schemas.microsoft.com/office/drawing/2014/main" id="{F663220F-6B3E-2511-FD87-BE60829418BE}"/>
              </a:ext>
            </a:extLst>
          </p:cNvPr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Parking Spot Detection — Reference Image Output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8CBA32-EFAB-F0D2-B427-78187E61BD5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69997" y="660196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0" dirty="0">
                <a:solidFill>
                  <a:srgbClr val="546E7A"/>
                </a:solidFill>
              </a:rPr>
              <a:t>20</a:t>
            </a:r>
            <a:endParaRPr sz="900" b="0" dirty="0">
              <a:solidFill>
                <a:srgbClr val="546E7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Performance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3891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161288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61288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1161288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mAP@50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16128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mAP@50-95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16128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Train Time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934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63677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y11n  (YOLOv11n, std)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63677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3677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63677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3677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63677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5,597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12264"/>
            <a:ext cx="11430000" cy="484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139696"/>
            <a:ext cx="23317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DC143C"/>
                </a:solidFill>
                <a:latin typeface="Calibri"/>
              </a:rPr>
              <a:t>y11s  (YOLOv11s, </a:t>
            </a:r>
            <a:r>
              <a:rPr sz="1200" b="1" i="0" dirty="0">
                <a:solidFill>
                  <a:srgbClr val="DE1F45"/>
                </a:solidFill>
                <a:latin typeface="Calibri"/>
              </a:rPr>
              <a:t>std</a:t>
            </a:r>
            <a:r>
              <a:rPr sz="1200" b="1" i="0" dirty="0">
                <a:solidFill>
                  <a:srgbClr val="DC143C"/>
                </a:solidFill>
                <a:latin typeface="Calibri"/>
              </a:rPr>
              <a:t>)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13969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0.976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139696"/>
            <a:ext cx="1234440" cy="276999"/>
          </a:xfrm>
          <a:prstGeom prst="rect">
            <a:avLst/>
          </a:prstGeom>
          <a:solidFill>
            <a:srgbClr val="FFEBEE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DC143C"/>
                </a:solidFill>
                <a:latin typeface="Calibri"/>
              </a:rPr>
              <a:t>0.937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2139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13969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3969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6,729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1518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64261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y26n  (YOLOv11n, 26-cls)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64261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64261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59" y="264261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64261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64261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5,448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18104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14553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y26s  (YOLOv11s, 26-cls)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14553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14553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314553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14553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80.8%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14553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5,303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mAP@50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9184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mAP@50-95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Spots
Detected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400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Deployed
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C143C"/>
                </a:solidFill>
                <a:latin typeface="Calibri"/>
              </a:rPr>
              <a:t>★ Selected for deployment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606070"/>
                </a:solidFill>
                <a:latin typeface="Calibri"/>
              </a:rPr>
              <a:t>21</a:t>
            </a:r>
            <a:endParaRPr sz="900" b="0" i="0" dirty="0">
              <a:solidFill>
                <a:srgbClr val="606070"/>
              </a:solidFill>
              <a:latin typeface="Calibri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EB6E13-5C99-76A4-AC36-C3DEEAF3843D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B97550-A3C8-8252-8D55-16EE8918FB6E}"/>
              </a:ext>
            </a:extLst>
          </p:cNvPr>
          <p:cNvSpPr txBox="1"/>
          <p:nvPr/>
        </p:nvSpPr>
        <p:spPr>
          <a:xfrm>
            <a:off x="457200" y="813786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Epoch 50 Results</a:t>
            </a:r>
            <a:endParaRPr lang="en-US" sz="1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664" y="1000377"/>
            <a:ext cx="6703854" cy="40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ONNX Speed &amp; Efficiency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292891"/>
              </p:ext>
            </p:extLst>
          </p:nvPr>
        </p:nvGraphicFramePr>
        <p:xfrm>
          <a:off x="365664" y="1439174"/>
          <a:ext cx="6703854" cy="2376820"/>
        </p:xfrm>
        <a:graphic>
          <a:graphicData uri="http://schemas.openxmlformats.org/drawingml/2006/table">
            <a:tbl>
              <a:tblPr/>
              <a:tblGrid>
                <a:gridCol w="146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ONNX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 (B)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y11s ★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58.13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10.89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9.43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10.77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664" y="4023205"/>
            <a:ext cx="6703854" cy="40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Throughput  (7,200 frames)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407226"/>
              </p:ext>
            </p:extLst>
          </p:nvPr>
        </p:nvGraphicFramePr>
        <p:xfrm>
          <a:off x="365664" y="4449814"/>
          <a:ext cx="6703853" cy="1980682"/>
        </p:xfrm>
        <a:graphic>
          <a:graphicData uri="http://schemas.openxmlformats.org/drawingml/2006/table">
            <a:tbl>
              <a:tblPr/>
              <a:tblGrid>
                <a:gridCol w="182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y11s ★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102.85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70.01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35183" y="1036943"/>
            <a:ext cx="4387977" cy="5545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Shape 5"/>
          <p:cNvSpPr/>
          <p:nvPr/>
        </p:nvSpPr>
        <p:spPr>
          <a:xfrm>
            <a:off x="7435183" y="1036943"/>
            <a:ext cx="4387977" cy="85322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6"/>
          <p:cNvSpPr/>
          <p:nvPr/>
        </p:nvSpPr>
        <p:spPr>
          <a:xfrm>
            <a:off x="7435183" y="1183209"/>
            <a:ext cx="438797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y11s wins on all metrics</a:t>
            </a:r>
            <a:endParaRPr lang="en-US" sz="1733" dirty="0"/>
          </a:p>
        </p:txBody>
      </p:sp>
      <p:sp>
        <p:nvSpPr>
          <p:cNvPr id="11" name="Text 7"/>
          <p:cNvSpPr/>
          <p:nvPr/>
        </p:nvSpPr>
        <p:spPr>
          <a:xfrm>
            <a:off x="7557071" y="1829217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333" dirty="0"/>
          </a:p>
        </p:txBody>
      </p:sp>
      <p:sp>
        <p:nvSpPr>
          <p:cNvPr id="12" name="Text 8"/>
          <p:cNvSpPr/>
          <p:nvPr/>
        </p:nvSpPr>
        <p:spPr>
          <a:xfrm>
            <a:off x="7557071" y="2158315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5" name="Text 9"/>
          <p:cNvSpPr/>
          <p:nvPr/>
        </p:nvSpPr>
        <p:spPr>
          <a:xfrm>
            <a:off x="7557071" y="2658057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266" dirty="0"/>
          </a:p>
        </p:txBody>
      </p:sp>
      <p:sp>
        <p:nvSpPr>
          <p:cNvPr id="14" name="Text 10"/>
          <p:cNvSpPr/>
          <p:nvPr/>
        </p:nvSpPr>
        <p:spPr>
          <a:xfrm>
            <a:off x="7557071" y="2950588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333" dirty="0"/>
          </a:p>
        </p:txBody>
      </p:sp>
      <p:sp>
        <p:nvSpPr>
          <p:cNvPr id="15" name="Text 11"/>
          <p:cNvSpPr/>
          <p:nvPr/>
        </p:nvSpPr>
        <p:spPr>
          <a:xfrm>
            <a:off x="7557071" y="3279687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57071" y="3779429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</a:t>
            </a:r>
            <a:endParaRPr lang="en-US" sz="1266" dirty="0"/>
          </a:p>
        </p:txBody>
      </p:sp>
      <p:sp>
        <p:nvSpPr>
          <p:cNvPr id="17" name="Text 13"/>
          <p:cNvSpPr/>
          <p:nvPr/>
        </p:nvSpPr>
        <p:spPr>
          <a:xfrm>
            <a:off x="7557071" y="4071960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33" dirty="0"/>
          </a:p>
        </p:txBody>
      </p:sp>
      <p:sp>
        <p:nvSpPr>
          <p:cNvPr id="18" name="Text 14"/>
          <p:cNvSpPr/>
          <p:nvPr/>
        </p:nvSpPr>
        <p:spPr>
          <a:xfrm>
            <a:off x="7557071" y="4401059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102.85 FPS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7557071" y="4900801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real-world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7557071" y="5193332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33" dirty="0"/>
          </a:p>
        </p:txBody>
      </p:sp>
      <p:sp>
        <p:nvSpPr>
          <p:cNvPr id="21" name="Text 17"/>
          <p:cNvSpPr/>
          <p:nvPr/>
        </p:nvSpPr>
        <p:spPr>
          <a:xfrm>
            <a:off x="7557071" y="5522431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9.72 ms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7557071" y="6022173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per-frame</a:t>
            </a:r>
            <a:endParaRPr lang="en-US" sz="1266" dirty="0"/>
          </a:p>
        </p:txBody>
      </p:sp>
      <p:sp>
        <p:nvSpPr>
          <p:cNvPr id="23" name="Text 19"/>
          <p:cNvSpPr/>
          <p:nvPr/>
        </p:nvSpPr>
        <p:spPr>
          <a:xfrm>
            <a:off x="365664" y="6521914"/>
            <a:ext cx="11457496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larger y11s model achieves higher FPS than y11n — better GPU kernel alignment outweighs extra parameters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3BB30-3FC6-98DA-7FC7-EE2DE628D636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 Benchmarks</a:t>
            </a:r>
            <a:endParaRPr lang="en-US" sz="2800" dirty="0">
              <a:solidFill>
                <a:srgbClr val="DC143C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AEB327-EC7D-53CC-C53F-E4E3730E32C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69997" y="660196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b="0" dirty="0">
                <a:solidFill>
                  <a:srgbClr val="546E7A"/>
                </a:solidFill>
              </a:rPr>
              <a:t>22</a:t>
            </a:r>
            <a:endParaRPr sz="900" b="0" dirty="0">
              <a:solidFill>
                <a:srgbClr val="546E7A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System Behaviour — Demo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02:00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A1A2E"/>
                </a:solidFill>
                <a:latin typeface="Calibri"/>
              </a:rPr>
              <a:t>Low Occupancy
(≤ 2 cars)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Self-healing recalibration triggered.
spots.pt re-scans live frame,
updates spot registry &amp;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09:30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1568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Medium Occupancy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Accurate FREE / TAKEN labels on all
37 spots. Dashboard reflects
correct counts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16:00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Peak 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HIGH occupancy correctly identified.
Dashboard updates live as cars
enter and occupy bays.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0304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18:00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73184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0304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Variable Occupancy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Smooth real-time transitions as
vehicles enter and exit bays.
Greedy matching resolves instantly.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606070"/>
                </a:solidFill>
                <a:latin typeface="Calibri"/>
              </a:rPr>
              <a:t>23</a:t>
            </a:r>
            <a:endParaRPr sz="900" b="0" i="0" dirty="0">
              <a:solidFill>
                <a:srgbClr val="606070"/>
              </a:solidFill>
              <a:latin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CF56E1-08EC-5D72-6EB2-3334C3160C97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Current Progress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1946"/>
            <a:ext cx="374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DC143C"/>
                </a:solidFill>
                <a:latin typeface="Calibri"/>
              </a:rPr>
              <a:t>C</a:t>
            </a:r>
            <a:r>
              <a:rPr sz="1400" b="1" i="0" dirty="0">
                <a:solidFill>
                  <a:srgbClr val="DC143C"/>
                </a:solidFill>
                <a:latin typeface="Calibri"/>
              </a:rPr>
              <a:t>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YOLOv11 model training (4 variants benchmarked)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0441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Parking spot detection — spots.pt, NMS, JSON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6654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Bird's Eye View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homography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0577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Greedy BEV distance-based occupancy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9822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Self-healing 2 AM recalibration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5582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Real-time dashboard overlay (OpenCV)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38" y="1097279"/>
            <a:ext cx="3017520" cy="4937761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017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1301946"/>
            <a:ext cx="2834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8C00"/>
                </a:solidFill>
                <a:latin typeface="Calibri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2788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 Demo video polishing &amp; screen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00441"/>
            <a:ext cx="2788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UI refinement — label styling, color overlays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097280"/>
            <a:ext cx="420624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1097280"/>
            <a:ext cx="4206240" cy="54864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1301946"/>
            <a:ext cx="4023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1BC"/>
                </a:solidFill>
                <a:latin typeface="Calibri"/>
              </a:rPr>
              <a:t>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73736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Multi-camera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11992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IoT / MQTT cloud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250249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License plate recognition (ALPR)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88987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Edge deployment (Jetson / Coral TPU)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606070"/>
                </a:solidFill>
                <a:latin typeface="Calibri"/>
              </a:rPr>
              <a:t>24</a:t>
            </a:r>
            <a:endParaRPr sz="900" b="0" i="0" dirty="0">
              <a:solidFill>
                <a:srgbClr val="606070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0AD4DF-977A-DD54-C5B3-4F2BAE63E5AF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Dual YOLOv11 pipeline: spots.pt (bay detection) + best.pt (vehicle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8257"/>
            <a:ext cx="4954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Bird's Eye View perspective normalization eliminates camera distortion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20771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Greedy BEV matching assigns cars to spots in O(K log K) per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130" y="2561462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Self-healing recalibration at 2 AM — zero manual re-annotation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Deployed model (y11s): mAP@50 = 96.4%, mAP@50-95 = 80.7%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6479714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4480560"/>
            <a:ext cx="54864" cy="14630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4945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High-accuracy real-time parking management with no per-bay hardware.
Purely software-based — cost-effective, scalable, and maintainable.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576072"/>
            <a:ext cx="4748616" cy="53675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576071"/>
            <a:ext cx="4748616" cy="1038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1250" y="667512"/>
            <a:ext cx="4463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1250" y="1170432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Multi-camera facility-wide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1250" y="1527047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IoT / MQTT real-time data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250" y="1888235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Mobile app driver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250" y="2243960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ALPR for permit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250" y="2611684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Edge deployment (Jetson / Coral TPU)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1249" y="2982837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Adaptive BEV threshold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643" y="6313263"/>
            <a:ext cx="11095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Thank You  |  Q &amp; A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  <a:latin typeface="Calibri"/>
              </a:rPr>
              <a:t>25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5782E-418D-667D-9243-837A62EBC1F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2110</Words>
  <Application>Microsoft Macintosh PowerPoint</Application>
  <PresentationFormat>Custom</PresentationFormat>
  <Paragraphs>482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Papangkorn Wongsuwan</cp:lastModifiedBy>
  <cp:revision>11</cp:revision>
  <dcterms:created xsi:type="dcterms:W3CDTF">2013-01-27T09:14:16Z</dcterms:created>
  <dcterms:modified xsi:type="dcterms:W3CDTF">2026-03-31T09:15:47Z</dcterms:modified>
  <cp:category/>
</cp:coreProperties>
</file>