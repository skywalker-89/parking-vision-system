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85" r:id="rId6"/>
    <p:sldId id="260" r:id="rId7"/>
    <p:sldId id="277" r:id="rId8"/>
    <p:sldId id="262" r:id="rId9"/>
    <p:sldId id="261" r:id="rId10"/>
    <p:sldId id="282" r:id="rId11"/>
    <p:sldId id="279" r:id="rId12"/>
    <p:sldId id="280" r:id="rId13"/>
    <p:sldId id="263" r:id="rId14"/>
    <p:sldId id="273" r:id="rId15"/>
    <p:sldId id="274" r:id="rId16"/>
    <p:sldId id="275" r:id="rId17"/>
    <p:sldId id="266" r:id="rId18"/>
    <p:sldId id="264" r:id="rId19"/>
    <p:sldId id="284" r:id="rId20"/>
    <p:sldId id="265" r:id="rId21"/>
    <p:sldId id="281" r:id="rId22"/>
    <p:sldId id="267" r:id="rId2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143C"/>
    <a:srgbClr val="898989"/>
    <a:srgbClr val="DE1F45"/>
    <a:srgbClr val="FFEB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3" autoAdjust="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224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5C8B8B-2E3C-4E4A-B891-F62C6E05A37C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092DBB-0B8A-4169-B819-B8CE68D63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742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092DBB-0B8A-4169-B819-B8CE68D63DA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8075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7984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5156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 dirty="0">
                <a:solidFill>
                  <a:srgbClr val="1A1A2E"/>
                </a:solidFill>
                <a:latin typeface="Calibri"/>
              </a:rPr>
              <a:t>Vision-Based Smart Parking
Occupancy Detection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182613" y="3125926"/>
            <a:ext cx="3749039" cy="54864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6612" y="3228945"/>
            <a:ext cx="10515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 dirty="0">
                <a:solidFill>
                  <a:srgbClr val="DC143C"/>
                </a:solidFill>
                <a:latin typeface="Calibri"/>
              </a:rPr>
              <a:t>Using Dual YOLO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1148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143C"/>
                </a:solidFill>
                <a:latin typeface="Calibri"/>
              </a:rPr>
              <a:t>Group: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41148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1A1A2E"/>
                </a:solidFill>
                <a:latin typeface="Calibri"/>
              </a:rPr>
              <a:t>Group 66011049 · 66011666 · 66011117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454456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143C"/>
                </a:solidFill>
                <a:latin typeface="Calibri"/>
              </a:rPr>
              <a:t>Members: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454456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1A1A2E"/>
                </a:solidFill>
                <a:latin typeface="Calibri"/>
              </a:rPr>
              <a:t>Kunanon Rungsomboon · </a:t>
            </a:r>
            <a:r>
              <a:rPr sz="1300" b="0" i="0" dirty="0" err="1">
                <a:solidFill>
                  <a:srgbClr val="1A1A2E"/>
                </a:solidFill>
                <a:latin typeface="Calibri"/>
              </a:rPr>
              <a:t>Mihini</a:t>
            </a:r>
            <a:r>
              <a:rPr sz="1300" b="0" i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1A1A2E"/>
                </a:solidFill>
                <a:latin typeface="Calibri"/>
              </a:rPr>
              <a:t>Methasa</a:t>
            </a:r>
            <a:r>
              <a:rPr sz="1300" b="0" i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1A1A2E"/>
                </a:solidFill>
                <a:latin typeface="Calibri"/>
              </a:rPr>
              <a:t>Boteju</a:t>
            </a:r>
            <a:r>
              <a:rPr sz="1300" b="0" i="0" dirty="0">
                <a:solidFill>
                  <a:srgbClr val="1A1A2E"/>
                </a:solidFill>
                <a:latin typeface="Calibri"/>
              </a:rPr>
              <a:t> · </a:t>
            </a:r>
            <a:r>
              <a:rPr sz="1300" b="0" i="0" dirty="0" err="1">
                <a:solidFill>
                  <a:srgbClr val="1A1A2E"/>
                </a:solidFill>
                <a:latin typeface="Calibri"/>
              </a:rPr>
              <a:t>Papangkorn</a:t>
            </a:r>
            <a:r>
              <a:rPr sz="1300" b="0" i="0" dirty="0">
                <a:solidFill>
                  <a:srgbClr val="1A1A2E"/>
                </a:solidFill>
                <a:latin typeface="Calibri"/>
              </a:rPr>
              <a:t> Wongsuwan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4974336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143C"/>
                </a:solidFill>
                <a:latin typeface="Calibri"/>
              </a:rPr>
              <a:t>Advisor: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4974336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 err="1">
                <a:solidFill>
                  <a:srgbClr val="1A1A2E"/>
                </a:solidFill>
                <a:latin typeface="Calibri"/>
              </a:rPr>
              <a:t>Jirayut</a:t>
            </a:r>
            <a:r>
              <a:rPr sz="1300" b="0" i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1A1A2E"/>
                </a:solidFill>
                <a:latin typeface="Calibri"/>
              </a:rPr>
              <a:t>Petchhan</a:t>
            </a:r>
            <a:endParaRPr sz="1300" b="0" i="0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200400" y="5404104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143C"/>
                </a:solidFill>
                <a:latin typeface="Calibri"/>
              </a:rPr>
              <a:t>Course: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5404104"/>
            <a:ext cx="5486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1A1A2E"/>
                </a:solidFill>
                <a:latin typeface="Calibri"/>
              </a:rPr>
              <a:t>01276390 CEPP  |  </a:t>
            </a:r>
            <a:r>
              <a:rPr lang="en-US" sz="1300" b="0" i="0" dirty="0">
                <a:solidFill>
                  <a:srgbClr val="1A1A2E"/>
                </a:solidFill>
                <a:latin typeface="Calibri"/>
              </a:rPr>
              <a:t>April</a:t>
            </a:r>
            <a:r>
              <a:rPr sz="1300" b="0" i="0" dirty="0">
                <a:solidFill>
                  <a:srgbClr val="1A1A2E"/>
                </a:solidFill>
                <a:latin typeface="Calibri"/>
              </a:rPr>
              <a:t>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0" y="6510528"/>
            <a:ext cx="1218895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1" i="0" dirty="0">
                <a:solidFill>
                  <a:srgbClr val="FFFFFF"/>
                </a:solidFill>
                <a:latin typeface="Calibri"/>
              </a:rPr>
              <a:t>CEIPP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7">
            <a:extLst>
              <a:ext uri="{FF2B5EF4-FFF2-40B4-BE49-F238E27FC236}">
                <a16:creationId xmlns:a16="http://schemas.microsoft.com/office/drawing/2014/main" id="{C40EEFCD-C7F4-2A20-FE2D-0CFF73CDED0C}"/>
              </a:ext>
            </a:extLst>
          </p:cNvPr>
          <p:cNvSpPr/>
          <p:nvPr/>
        </p:nvSpPr>
        <p:spPr>
          <a:xfrm>
            <a:off x="8181820" y="1438163"/>
            <a:ext cx="3360626" cy="42440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Shape 8">
            <a:extLst>
              <a:ext uri="{FF2B5EF4-FFF2-40B4-BE49-F238E27FC236}">
                <a16:creationId xmlns:a16="http://schemas.microsoft.com/office/drawing/2014/main" id="{B37DDE19-E8A0-0873-5788-D83177F32B9C}"/>
              </a:ext>
            </a:extLst>
          </p:cNvPr>
          <p:cNvSpPr/>
          <p:nvPr/>
        </p:nvSpPr>
        <p:spPr>
          <a:xfrm>
            <a:off x="8181820" y="1317731"/>
            <a:ext cx="3360626" cy="128457"/>
          </a:xfrm>
          <a:prstGeom prst="rect">
            <a:avLst/>
          </a:prstGeom>
          <a:solidFill>
            <a:srgbClr val="DC143C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6" name="Shape 7">
            <a:extLst>
              <a:ext uri="{FF2B5EF4-FFF2-40B4-BE49-F238E27FC236}">
                <a16:creationId xmlns:a16="http://schemas.microsoft.com/office/drawing/2014/main" id="{12930892-188A-B017-8E26-3984DFEDD33E}"/>
              </a:ext>
            </a:extLst>
          </p:cNvPr>
          <p:cNvSpPr/>
          <p:nvPr/>
        </p:nvSpPr>
        <p:spPr>
          <a:xfrm>
            <a:off x="450701" y="1449250"/>
            <a:ext cx="3360626" cy="4218757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6400800"/>
            <a:ext cx="11457432" cy="18288"/>
          </a:xfrm>
          <a:prstGeom prst="rect">
            <a:avLst/>
          </a:prstGeom>
          <a:solidFill>
            <a:srgbClr val="60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6070"/>
                </a:solidFill>
                <a:latin typeface="Calibri"/>
              </a:rPr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636FD69-EC3F-A7BD-43F4-7F1172FC253A}"/>
              </a:ext>
            </a:extLst>
          </p:cNvPr>
          <p:cNvSpPr txBox="1"/>
          <p:nvPr/>
        </p:nvSpPr>
        <p:spPr>
          <a:xfrm>
            <a:off x="609600" y="335280"/>
            <a:ext cx="56684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DC143C"/>
                </a:solidFill>
              </a:rPr>
              <a:t>Background — The Parking Problem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B8934FB-1591-3D41-5605-23137370E0F7}"/>
              </a:ext>
            </a:extLst>
          </p:cNvPr>
          <p:cNvSpPr/>
          <p:nvPr/>
        </p:nvSpPr>
        <p:spPr>
          <a:xfrm>
            <a:off x="609600" y="859986"/>
            <a:ext cx="1463040" cy="4114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8108CEEC-A5FF-187F-9911-42E326D3514C}"/>
              </a:ext>
            </a:extLst>
          </p:cNvPr>
          <p:cNvSpPr/>
          <p:nvPr/>
        </p:nvSpPr>
        <p:spPr>
          <a:xfrm>
            <a:off x="720993" y="1653895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⏱</a:t>
            </a:r>
            <a:endParaRPr lang="en-US" sz="3600" dirty="0"/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0A34792E-5F43-A29E-E6B1-A0880CE11E5C}"/>
              </a:ext>
            </a:extLst>
          </p:cNvPr>
          <p:cNvSpPr/>
          <p:nvPr/>
        </p:nvSpPr>
        <p:spPr>
          <a:xfrm>
            <a:off x="858153" y="2568295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Minutes Lost</a:t>
            </a:r>
            <a:endParaRPr lang="en-US" sz="1500" dirty="0"/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1225B08D-2E31-F22F-A56D-9367D2FAD868}"/>
              </a:ext>
            </a:extLst>
          </p:cNvPr>
          <p:cNvSpPr/>
          <p:nvPr/>
        </p:nvSpPr>
        <p:spPr>
          <a:xfrm>
            <a:off x="858153" y="3071215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 per trip spent searching for a parking spot — causing congestion, fuel waste, and emissions</a:t>
            </a:r>
            <a:endParaRPr lang="en-US" sz="1150" dirty="0"/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47010A30-BA4B-0C7B-15B0-43F1BF03B965}"/>
              </a:ext>
            </a:extLst>
          </p:cNvPr>
          <p:cNvSpPr/>
          <p:nvPr/>
        </p:nvSpPr>
        <p:spPr>
          <a:xfrm>
            <a:off x="4314361" y="1423939"/>
            <a:ext cx="3360626" cy="42440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643D5CFA-E4B3-00C6-57D0-40B360A9384E}"/>
              </a:ext>
            </a:extLst>
          </p:cNvPr>
          <p:cNvSpPr/>
          <p:nvPr/>
        </p:nvSpPr>
        <p:spPr>
          <a:xfrm>
            <a:off x="4314361" y="1304862"/>
            <a:ext cx="3360626" cy="10946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💰</a:t>
            </a:r>
            <a:endParaRPr lang="en-US" sz="3600" dirty="0"/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9A87F0E1-0A22-16BD-A84A-CA3CDC61A905}"/>
              </a:ext>
            </a:extLst>
          </p:cNvPr>
          <p:cNvSpPr/>
          <p:nvPr/>
        </p:nvSpPr>
        <p:spPr>
          <a:xfrm>
            <a:off x="4451520" y="2219262"/>
            <a:ext cx="3024563" cy="6081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Sensors</a:t>
            </a:r>
            <a:endParaRPr lang="en-US" sz="1500" dirty="0"/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0EB781B5-D2B7-D5E5-2BB6-1BBDF3E0DB90}"/>
              </a:ext>
            </a:extLst>
          </p:cNvPr>
          <p:cNvSpPr/>
          <p:nvPr/>
        </p:nvSpPr>
        <p:spPr>
          <a:xfrm>
            <a:off x="4451520" y="2722183"/>
            <a:ext cx="3024563" cy="21893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Per-bay magnetic loops / ultrasonic sensors: cost, wiring, and maintenance scale linearly with bay count</a:t>
            </a:r>
            <a:endParaRPr lang="en-US" sz="1150" dirty="0"/>
          </a:p>
        </p:txBody>
      </p:sp>
      <p:sp>
        <p:nvSpPr>
          <p:cNvPr id="30" name="Text 14">
            <a:extLst>
              <a:ext uri="{FF2B5EF4-FFF2-40B4-BE49-F238E27FC236}">
                <a16:creationId xmlns:a16="http://schemas.microsoft.com/office/drawing/2014/main" id="{5DE760D0-E0F2-2F31-BC82-A3A88371DEFE}"/>
              </a:ext>
            </a:extLst>
          </p:cNvPr>
          <p:cNvSpPr/>
          <p:nvPr/>
        </p:nvSpPr>
        <p:spPr>
          <a:xfrm>
            <a:off x="8644145" y="1718344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📐</a:t>
            </a:r>
            <a:endParaRPr lang="en-US" sz="3600" dirty="0"/>
          </a:p>
        </p:txBody>
      </p:sp>
      <p:sp>
        <p:nvSpPr>
          <p:cNvPr id="31" name="Text 15">
            <a:extLst>
              <a:ext uri="{FF2B5EF4-FFF2-40B4-BE49-F238E27FC236}">
                <a16:creationId xmlns:a16="http://schemas.microsoft.com/office/drawing/2014/main" id="{A16CF8C0-CA0C-D27D-BE42-4EA02332E6B5}"/>
              </a:ext>
            </a:extLst>
          </p:cNvPr>
          <p:cNvSpPr/>
          <p:nvPr/>
        </p:nvSpPr>
        <p:spPr>
          <a:xfrm>
            <a:off x="8781305" y="263274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 Distortion</a:t>
            </a:r>
            <a:endParaRPr lang="en-US" sz="1500" dirty="0"/>
          </a:p>
        </p:txBody>
      </p:sp>
      <p:sp>
        <p:nvSpPr>
          <p:cNvPr id="32" name="Text 16">
            <a:extLst>
              <a:ext uri="{FF2B5EF4-FFF2-40B4-BE49-F238E27FC236}">
                <a16:creationId xmlns:a16="http://schemas.microsoft.com/office/drawing/2014/main" id="{C54013F9-4965-1162-A7E7-38928780E97B}"/>
              </a:ext>
            </a:extLst>
          </p:cNvPr>
          <p:cNvSpPr/>
          <p:nvPr/>
        </p:nvSpPr>
        <p:spPr>
          <a:xfrm>
            <a:off x="8781305" y="3135664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Single-model detectors fail: cars far from camera appear smaller, making fixed-distance matching unreliable</a:t>
            </a:r>
            <a:endParaRPr lang="en-US" sz="1150" dirty="0"/>
          </a:p>
        </p:txBody>
      </p:sp>
      <p:sp>
        <p:nvSpPr>
          <p:cNvPr id="45" name="Shape 8">
            <a:extLst>
              <a:ext uri="{FF2B5EF4-FFF2-40B4-BE49-F238E27FC236}">
                <a16:creationId xmlns:a16="http://schemas.microsoft.com/office/drawing/2014/main" id="{C5CBE67E-AB04-5C24-B22B-55BE7BA7B168}"/>
              </a:ext>
            </a:extLst>
          </p:cNvPr>
          <p:cNvSpPr/>
          <p:nvPr/>
        </p:nvSpPr>
        <p:spPr>
          <a:xfrm>
            <a:off x="4314361" y="1299258"/>
            <a:ext cx="3360626" cy="128457"/>
          </a:xfrm>
          <a:prstGeom prst="rect">
            <a:avLst/>
          </a:prstGeom>
          <a:solidFill>
            <a:srgbClr val="DC143C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6" name="Shape 8">
            <a:extLst>
              <a:ext uri="{FF2B5EF4-FFF2-40B4-BE49-F238E27FC236}">
                <a16:creationId xmlns:a16="http://schemas.microsoft.com/office/drawing/2014/main" id="{56234B0B-903A-8252-208C-6D20AA1C0FD5}"/>
              </a:ext>
            </a:extLst>
          </p:cNvPr>
          <p:cNvSpPr/>
          <p:nvPr/>
        </p:nvSpPr>
        <p:spPr>
          <a:xfrm>
            <a:off x="454499" y="1317730"/>
            <a:ext cx="3360626" cy="128457"/>
          </a:xfrm>
          <a:prstGeom prst="rect">
            <a:avLst/>
          </a:prstGeom>
          <a:solidFill>
            <a:srgbClr val="DC143C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7" name="Text 17">
            <a:extLst>
              <a:ext uri="{FF2B5EF4-FFF2-40B4-BE49-F238E27FC236}">
                <a16:creationId xmlns:a16="http://schemas.microsoft.com/office/drawing/2014/main" id="{BB291668-790D-8074-7337-D860F6D76D7C}"/>
              </a:ext>
            </a:extLst>
          </p:cNvPr>
          <p:cNvSpPr/>
          <p:nvPr/>
        </p:nvSpPr>
        <p:spPr>
          <a:xfrm>
            <a:off x="1842452" y="5851461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Solution: Vision-only system using Dual YOLO + Bird's Eye View occupancy matching — no per-bay hardware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DC143C"/>
                </a:solidFill>
                <a:latin typeface="Calibri"/>
              </a:rPr>
              <a:t>Current Methods &amp; Limitations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82296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335024"/>
            <a:ext cx="2743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DC143C"/>
                </a:solidFill>
                <a:latin typeface="Calibri"/>
              </a:rPr>
              <a:t>Manual Monitoring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7560" y="1335024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Security personnel conduct physical walkthroughs — not scalable, error-prone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54864" cy="82296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2066543"/>
            <a:ext cx="11247120" cy="82296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2304287"/>
            <a:ext cx="2743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DC143C"/>
                </a:solidFill>
                <a:latin typeface="Calibri"/>
              </a:rPr>
              <a:t>Per-Bay Sensors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304287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Magnetic / ultrasonic sensors per space — high cost, difficult to maintain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066543"/>
            <a:ext cx="54864" cy="82296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3035808"/>
            <a:ext cx="11247120" cy="82296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3273552"/>
            <a:ext cx="2743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143C"/>
                </a:solidFill>
                <a:latin typeface="Calibri"/>
              </a:rPr>
              <a:t>Single-Model Vision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3273552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One CNN for all tasks — lower accuracy, struggles with multi-class inference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035808"/>
            <a:ext cx="54864" cy="82296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4005072"/>
            <a:ext cx="11247120" cy="82296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4242815"/>
            <a:ext cx="2743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143C"/>
                </a:solidFill>
                <a:latin typeface="Calibri"/>
              </a:rPr>
              <a:t>Perspective Distortion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4242815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2E"/>
                </a:solidFill>
                <a:latin typeface="Calibri"/>
              </a:rPr>
              <a:t>Far objects appear smaller; naïve pixel-distance matching fails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005072"/>
            <a:ext cx="54864" cy="82296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4974336"/>
            <a:ext cx="11247120" cy="82296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5212080"/>
            <a:ext cx="2743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143C"/>
                </a:solidFill>
                <a:latin typeface="Calibri"/>
              </a:rPr>
              <a:t>Manual Spot Annotation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521208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Parking bay coordinates must be hand-labelled — labour intensive, brittle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974336"/>
            <a:ext cx="54864" cy="82296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65760" y="6400800"/>
            <a:ext cx="11457432" cy="18288"/>
          </a:xfrm>
          <a:prstGeom prst="rect">
            <a:avLst/>
          </a:prstGeom>
          <a:solidFill>
            <a:srgbClr val="60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6070"/>
                </a:solidFill>
                <a:latin typeface="Calibri"/>
              </a:rPr>
              <a:t>3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060E919-AFE6-D572-2083-310076E9519C}"/>
              </a:ext>
            </a:extLst>
          </p:cNvPr>
          <p:cNvSpPr/>
          <p:nvPr/>
        </p:nvSpPr>
        <p:spPr>
          <a:xfrm>
            <a:off x="457200" y="707586"/>
            <a:ext cx="1463040" cy="4114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DC143C"/>
                </a:solidFill>
                <a:latin typeface="Calibri"/>
              </a:rPr>
              <a:t>Key Insights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07586"/>
            <a:ext cx="1463040" cy="4114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52079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 dirty="0">
                <a:solidFill>
                  <a:srgbClr val="606070"/>
                </a:solidFill>
                <a:latin typeface="Calibri"/>
              </a:rPr>
              <a:t>Four ideas that define our approach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577840" cy="23317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641318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C143C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5338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One Camera, Many Slots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537430"/>
            <a:ext cx="521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606070"/>
                </a:solidFill>
                <a:latin typeface="Calibri"/>
              </a:rPr>
              <a:t>A single overhead camera can monitor an entire parking zone,
eliminating per-bay sensor hardware.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34440"/>
            <a:ext cx="5577840" cy="23317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1641318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C143C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15338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Separate the Detection Tasks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537430"/>
            <a:ext cx="521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606070"/>
                </a:solidFill>
                <a:latin typeface="Calibri"/>
              </a:rPr>
              <a:t>Spot detection and car detection are different problems</a:t>
            </a:r>
            <a:r>
              <a:rPr lang="en-US" sz="1200" dirty="0">
                <a:solidFill>
                  <a:srgbClr val="606070"/>
                </a:solidFill>
                <a:latin typeface="Calibri"/>
              </a:rPr>
              <a:t> </a:t>
            </a:r>
            <a:r>
              <a:rPr sz="1200" b="0" i="0" dirty="0">
                <a:solidFill>
                  <a:srgbClr val="606070"/>
                </a:solidFill>
                <a:latin typeface="Calibri"/>
              </a:rPr>
              <a:t>using dedicated models for each </a:t>
            </a:r>
            <a:r>
              <a:rPr lang="en-US" sz="1200" b="0" i="0" dirty="0">
                <a:solidFill>
                  <a:srgbClr val="606070"/>
                </a:solidFill>
                <a:latin typeface="Calibri"/>
              </a:rPr>
              <a:t>yield's</a:t>
            </a:r>
            <a:r>
              <a:rPr sz="1200" b="0" i="0" dirty="0">
                <a:solidFill>
                  <a:srgbClr val="606070"/>
                </a:solidFill>
                <a:latin typeface="Calibri"/>
              </a:rPr>
              <a:t> higher accuracy.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794760"/>
            <a:ext cx="5577840" cy="23317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4201638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C143C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71370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BEV Fixes Perspective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097750"/>
            <a:ext cx="521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06070"/>
                </a:solidFill>
                <a:latin typeface="Calibri"/>
              </a:rPr>
              <a:t>Bird's Eye View projection normalises distance distortion,
making proximity matching reliable across the entire lot.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794760"/>
            <a:ext cx="5577840" cy="23317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55080" y="4201638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C143C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71370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Recalibration Reduces Maintenance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5097750"/>
            <a:ext cx="521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06070"/>
                </a:solidFill>
                <a:latin typeface="Calibri"/>
              </a:rPr>
              <a:t>Automated 2 AM spot re-scan self-heals after camera drift,
eliminating the need for human re-annotation.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6400800"/>
            <a:ext cx="11457432" cy="18288"/>
          </a:xfrm>
          <a:prstGeom prst="rect">
            <a:avLst/>
          </a:prstGeom>
          <a:solidFill>
            <a:srgbClr val="60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607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228540" y="750506"/>
            <a:ext cx="11701272" cy="2925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080" y="1143595"/>
            <a:ext cx="5302139" cy="228540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080" y="1143595"/>
            <a:ext cx="5302139" cy="63991"/>
          </a:xfrm>
          <a:prstGeom prst="rect">
            <a:avLst/>
          </a:prstGeom>
          <a:solidFill>
            <a:srgbClr val="DC143C"/>
          </a:solidFill>
          <a:ln/>
        </p:spPr>
      </p:sp>
      <p:sp>
        <p:nvSpPr>
          <p:cNvPr id="8" name="Shape 6"/>
          <p:cNvSpPr/>
          <p:nvPr/>
        </p:nvSpPr>
        <p:spPr>
          <a:xfrm>
            <a:off x="2724202" y="1308144"/>
            <a:ext cx="767896" cy="767896"/>
          </a:xfrm>
          <a:prstGeom prst="ellipse">
            <a:avLst/>
          </a:prstGeom>
          <a:solidFill>
            <a:srgbClr val="DC143C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24202" y="1308144"/>
            <a:ext cx="767896" cy="76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399" dirty="0">
                <a:solidFill>
                  <a:srgbClr val="000000"/>
                </a:solidFill>
              </a:rPr>
              <a:t>💻</a:t>
            </a:r>
            <a:endParaRPr lang="en-US" sz="2399" dirty="0"/>
          </a:p>
        </p:txBody>
      </p:sp>
      <p:sp>
        <p:nvSpPr>
          <p:cNvPr id="10" name="Text 8"/>
          <p:cNvSpPr/>
          <p:nvPr/>
        </p:nvSpPr>
        <p:spPr>
          <a:xfrm>
            <a:off x="594205" y="2167456"/>
            <a:ext cx="5027890" cy="2742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496" y="2441705"/>
            <a:ext cx="5119307" cy="502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Lenovo Laptop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496" y="2926211"/>
            <a:ext cx="5119307" cy="3199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83DG  ·  Windows 11 Home 64-bit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99133" y="1143595"/>
            <a:ext cx="5302139" cy="228540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99133" y="1143595"/>
            <a:ext cx="5302139" cy="63991"/>
          </a:xfrm>
          <a:prstGeom prst="rect">
            <a:avLst/>
          </a:prstGeom>
          <a:solidFill>
            <a:srgbClr val="DC143C"/>
          </a:solidFill>
          <a:ln/>
        </p:spPr>
      </p:sp>
      <p:sp>
        <p:nvSpPr>
          <p:cNvPr id="15" name="Shape 13"/>
          <p:cNvSpPr/>
          <p:nvPr/>
        </p:nvSpPr>
        <p:spPr>
          <a:xfrm>
            <a:off x="8666254" y="1308144"/>
            <a:ext cx="767896" cy="767896"/>
          </a:xfrm>
          <a:prstGeom prst="ellipse">
            <a:avLst/>
          </a:prstGeom>
          <a:solidFill>
            <a:srgbClr val="DC143C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66254" y="1308144"/>
            <a:ext cx="767896" cy="76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399" dirty="0">
                <a:solidFill>
                  <a:srgbClr val="000000"/>
                </a:solidFill>
              </a:rPr>
              <a:t>🎮</a:t>
            </a:r>
            <a:endParaRPr lang="en-US" sz="2399" dirty="0"/>
          </a:p>
        </p:txBody>
      </p:sp>
      <p:sp>
        <p:nvSpPr>
          <p:cNvPr id="17" name="Text 15"/>
          <p:cNvSpPr/>
          <p:nvPr/>
        </p:nvSpPr>
        <p:spPr>
          <a:xfrm>
            <a:off x="6536257" y="2167456"/>
            <a:ext cx="5027890" cy="2742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90549" y="2441705"/>
            <a:ext cx="5119307" cy="502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GeForce RTX 4060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0549" y="2926211"/>
            <a:ext cx="5119307" cy="3199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GPU  ·  8 GB VRAM  ·  CUDA-enabled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080" y="3703248"/>
            <a:ext cx="3336691" cy="228540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080" y="3703249"/>
            <a:ext cx="3336691" cy="63991"/>
          </a:xfrm>
          <a:prstGeom prst="rect">
            <a:avLst/>
          </a:prstGeom>
          <a:solidFill>
            <a:srgbClr val="DC143C"/>
          </a:solidFill>
          <a:ln/>
        </p:spPr>
      </p:sp>
      <p:sp>
        <p:nvSpPr>
          <p:cNvPr id="22" name="Shape 20"/>
          <p:cNvSpPr/>
          <p:nvPr/>
        </p:nvSpPr>
        <p:spPr>
          <a:xfrm>
            <a:off x="1741478" y="3867798"/>
            <a:ext cx="767896" cy="767896"/>
          </a:xfrm>
          <a:prstGeom prst="ellipse">
            <a:avLst/>
          </a:prstGeom>
          <a:solidFill>
            <a:srgbClr val="DC143C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41478" y="3867798"/>
            <a:ext cx="767896" cy="76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399" dirty="0">
                <a:solidFill>
                  <a:srgbClr val="000000"/>
                </a:solidFill>
              </a:rPr>
              <a:t>⚡</a:t>
            </a:r>
            <a:endParaRPr lang="en-US" sz="2399" dirty="0"/>
          </a:p>
        </p:txBody>
      </p:sp>
      <p:sp>
        <p:nvSpPr>
          <p:cNvPr id="24" name="Text 22"/>
          <p:cNvSpPr/>
          <p:nvPr/>
        </p:nvSpPr>
        <p:spPr>
          <a:xfrm>
            <a:off x="594205" y="4727110"/>
            <a:ext cx="3062442" cy="2742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497" y="5001358"/>
            <a:ext cx="3153858" cy="502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Core i7-14650HX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8497" y="5485864"/>
            <a:ext cx="3153858" cy="3199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CPUs  ·  2.2 GHz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415401" y="3703248"/>
            <a:ext cx="3336691" cy="228540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415401" y="3703249"/>
            <a:ext cx="3336691" cy="63991"/>
          </a:xfrm>
          <a:prstGeom prst="rect">
            <a:avLst/>
          </a:prstGeom>
          <a:solidFill>
            <a:srgbClr val="DC143C"/>
          </a:solidFill>
          <a:ln/>
        </p:spPr>
      </p:sp>
      <p:sp>
        <p:nvSpPr>
          <p:cNvPr id="29" name="Shape 27"/>
          <p:cNvSpPr/>
          <p:nvPr/>
        </p:nvSpPr>
        <p:spPr>
          <a:xfrm>
            <a:off x="5699799" y="3867798"/>
            <a:ext cx="767896" cy="767896"/>
          </a:xfrm>
          <a:prstGeom prst="ellipse">
            <a:avLst/>
          </a:prstGeom>
          <a:solidFill>
            <a:srgbClr val="DC143C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99799" y="3867798"/>
            <a:ext cx="767896" cy="76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399" dirty="0">
                <a:solidFill>
                  <a:srgbClr val="000000"/>
                </a:solidFill>
              </a:rPr>
              <a:t>🧠</a:t>
            </a:r>
            <a:endParaRPr lang="en-US" sz="2399" dirty="0"/>
          </a:p>
        </p:txBody>
      </p:sp>
      <p:sp>
        <p:nvSpPr>
          <p:cNvPr id="31" name="Text 29"/>
          <p:cNvSpPr/>
          <p:nvPr/>
        </p:nvSpPr>
        <p:spPr>
          <a:xfrm>
            <a:off x="4552526" y="4727110"/>
            <a:ext cx="3062442" cy="2742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06818" y="5001358"/>
            <a:ext cx="3153858" cy="502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GB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506818" y="5485864"/>
            <a:ext cx="3153858" cy="3199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Memory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364581" y="3703248"/>
            <a:ext cx="3336691" cy="228540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364581" y="3703249"/>
            <a:ext cx="3336691" cy="63991"/>
          </a:xfrm>
          <a:prstGeom prst="rect">
            <a:avLst/>
          </a:prstGeom>
          <a:solidFill>
            <a:srgbClr val="DC143C"/>
          </a:solidFill>
          <a:ln/>
        </p:spPr>
      </p:sp>
      <p:sp>
        <p:nvSpPr>
          <p:cNvPr id="36" name="Shape 34"/>
          <p:cNvSpPr/>
          <p:nvPr/>
        </p:nvSpPr>
        <p:spPr>
          <a:xfrm>
            <a:off x="9648978" y="3867798"/>
            <a:ext cx="767896" cy="767896"/>
          </a:xfrm>
          <a:prstGeom prst="ellipse">
            <a:avLst/>
          </a:prstGeom>
          <a:solidFill>
            <a:srgbClr val="DC143C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648978" y="3867798"/>
            <a:ext cx="767896" cy="76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399" dirty="0">
                <a:solidFill>
                  <a:srgbClr val="000000"/>
                </a:solidFill>
              </a:rPr>
              <a:t>🔧</a:t>
            </a:r>
            <a:endParaRPr lang="en-US" sz="2399" dirty="0"/>
          </a:p>
        </p:txBody>
      </p:sp>
      <p:sp>
        <p:nvSpPr>
          <p:cNvPr id="38" name="Text 36"/>
          <p:cNvSpPr/>
          <p:nvPr/>
        </p:nvSpPr>
        <p:spPr>
          <a:xfrm>
            <a:off x="8501705" y="4727110"/>
            <a:ext cx="3062442" cy="2742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455997" y="5001358"/>
            <a:ext cx="3153858" cy="502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Ultralytics YOLO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455997" y="5485864"/>
            <a:ext cx="3153858" cy="3199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 Acceleration + PyTorch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1884104" y="6655992"/>
            <a:ext cx="255965" cy="182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C76CC69-734C-0F6C-37E3-D18653C746F3}"/>
              </a:ext>
            </a:extLst>
          </p:cNvPr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F5C54AE-0D6E-2B6B-A1D2-3A04DE4FCFDE}"/>
              </a:ext>
            </a:extLst>
          </p:cNvPr>
          <p:cNvSpPr txBox="1"/>
          <p:nvPr/>
        </p:nvSpPr>
        <p:spPr>
          <a:xfrm>
            <a:off x="457200" y="18288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dirty="0">
                <a:solidFill>
                  <a:srgbClr val="DC143C"/>
                </a:solidFill>
                <a:latin typeface="Calibri"/>
              </a:rPr>
              <a:t>Training Hardware</a:t>
            </a:r>
            <a:endParaRPr sz="2800" b="1" i="0" dirty="0">
              <a:solidFill>
                <a:srgbClr val="DC143C"/>
              </a:solidFill>
              <a:latin typeface="Calibri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2F31AA5-47C2-5973-69A9-A8923776A81F}"/>
              </a:ext>
            </a:extLst>
          </p:cNvPr>
          <p:cNvSpPr/>
          <p:nvPr/>
        </p:nvSpPr>
        <p:spPr>
          <a:xfrm>
            <a:off x="457200" y="707586"/>
            <a:ext cx="1463040" cy="4114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2BFC2EF-217C-8D2C-5050-C3338DFD3AC3}"/>
              </a:ext>
            </a:extLst>
          </p:cNvPr>
          <p:cNvSpPr txBox="1"/>
          <p:nvPr/>
        </p:nvSpPr>
        <p:spPr>
          <a:xfrm>
            <a:off x="457200" y="752079"/>
            <a:ext cx="9144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training and inference benchmarking performed on a single laptop with CUDA acceleration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DC143C"/>
                </a:solidFill>
                <a:latin typeface="Calibri"/>
              </a:rPr>
              <a:t>System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267336" y="2024783"/>
            <a:ext cx="1554480" cy="11887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276715" y="2379895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1A1A2E"/>
                </a:solidFill>
                <a:latin typeface="Calibri"/>
              </a:rPr>
              <a:t>Reference
Image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40573" y="2390543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>
                <a:solidFill>
                  <a:srgbClr val="606070"/>
                </a:solidFill>
                <a:latin typeface="Calibr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179370" y="2033927"/>
            <a:ext cx="1554480" cy="118872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49451" y="2284773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Calibri"/>
              </a:rPr>
              <a:t>Spot
Detector
(spots.pt)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850" y="2390543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>
                <a:solidFill>
                  <a:srgbClr val="606070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64324" y="2044298"/>
            <a:ext cx="1554480" cy="11887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064324" y="2265841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1A1A2E"/>
                </a:solidFill>
                <a:latin typeface="Calibri"/>
              </a:rPr>
              <a:t>Spot
Coordinates
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56929" y="2390543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>
                <a:solidFill>
                  <a:srgbClr val="606070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27445" y="2026010"/>
            <a:ext cx="1554480" cy="11887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6027445" y="2379895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1A1A2E"/>
                </a:solidFill>
                <a:latin typeface="Calibri"/>
              </a:rPr>
              <a:t>BEV
Transform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2401" y="2376213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>
                <a:solidFill>
                  <a:srgbClr val="606070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1042" y="2011680"/>
            <a:ext cx="1554480" cy="11887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8041042" y="237529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1A1A2E"/>
                </a:solidFill>
                <a:latin typeface="Calibri"/>
              </a:rPr>
              <a:t>Matching
Algorithm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45998" y="2379895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>
                <a:solidFill>
                  <a:srgbClr val="606070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14214" y="2011680"/>
            <a:ext cx="1554480" cy="11887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09455" y="2406499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1A1A2E"/>
                </a:solidFill>
                <a:latin typeface="Calibri"/>
              </a:rPr>
              <a:t>Occupancy
Output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27445" y="3675276"/>
            <a:ext cx="1554480" cy="11887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06004" y="3987859"/>
            <a:ext cx="1554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1A1A2E"/>
                </a:solidFill>
                <a:latin typeface="Calibri"/>
              </a:rPr>
              <a:t>Live
Video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7540" y="4036434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>
                <a:solidFill>
                  <a:srgbClr val="606070"/>
                </a:solidFill>
                <a:latin typeface="Calibr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1042" y="3675276"/>
            <a:ext cx="1554480" cy="118872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41042" y="3947446"/>
            <a:ext cx="1554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Calibri"/>
              </a:rPr>
              <a:t>Car Detector
(best.pt)
+ Tracker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76085" y="3297149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>
                <a:solidFill>
                  <a:srgbClr val="606070"/>
                </a:solidFill>
                <a:latin typeface="Calibri"/>
              </a:rPr>
              <a:t>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166360"/>
            <a:ext cx="6400800" cy="32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 dirty="0">
                <a:solidFill>
                  <a:srgbClr val="DC143C"/>
                </a:solidFill>
                <a:latin typeface="Calibri"/>
              </a:rPr>
              <a:t>★  Red boxes = YOLO model inference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6400800"/>
            <a:ext cx="11457432" cy="18288"/>
          </a:xfrm>
          <a:prstGeom prst="rect">
            <a:avLst/>
          </a:prstGeom>
          <a:solidFill>
            <a:srgbClr val="60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6070"/>
                </a:solidFill>
                <a:latin typeface="Calibri"/>
              </a:rPr>
              <a:t>5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0056110-6415-F25A-9CC2-F8B7DFDED854}"/>
              </a:ext>
            </a:extLst>
          </p:cNvPr>
          <p:cNvSpPr/>
          <p:nvPr/>
        </p:nvSpPr>
        <p:spPr>
          <a:xfrm>
            <a:off x="457200" y="707586"/>
            <a:ext cx="1463040" cy="4114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115" y="293680"/>
            <a:ext cx="5484971" cy="502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799" dirty="0"/>
          </a:p>
        </p:txBody>
      </p:sp>
      <p:sp>
        <p:nvSpPr>
          <p:cNvPr id="3" name="Text 1"/>
          <p:cNvSpPr/>
          <p:nvPr/>
        </p:nvSpPr>
        <p:spPr>
          <a:xfrm>
            <a:off x="274248" y="659089"/>
            <a:ext cx="11609856" cy="2742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— Vision-Based Smart Parking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274248" y="915055"/>
            <a:ext cx="11609856" cy="2285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Two-phase pipeline: Initialization (once at startup) + Main Processing Loop (every frame)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096994" y="1207587"/>
            <a:ext cx="182832" cy="18283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1325534" y="1189303"/>
            <a:ext cx="1736908" cy="2193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Input/Output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45274" y="1207587"/>
            <a:ext cx="182832" cy="182832"/>
          </a:xfrm>
          <a:prstGeom prst="rect">
            <a:avLst/>
          </a:prstGeom>
          <a:solidFill>
            <a:srgbClr val="0277BD"/>
          </a:solidFill>
          <a:ln/>
        </p:spPr>
      </p:sp>
      <p:sp>
        <p:nvSpPr>
          <p:cNvPr id="8" name="Text 6"/>
          <p:cNvSpPr/>
          <p:nvPr/>
        </p:nvSpPr>
        <p:spPr>
          <a:xfrm>
            <a:off x="3473814" y="1189303"/>
            <a:ext cx="1736908" cy="2193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Detection/BEV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93555" y="1207587"/>
            <a:ext cx="182832" cy="1828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0" name="Text 8"/>
          <p:cNvSpPr/>
          <p:nvPr/>
        </p:nvSpPr>
        <p:spPr>
          <a:xfrm>
            <a:off x="5622095" y="1189303"/>
            <a:ext cx="1736908" cy="2193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&amp; Dashboard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541835" y="1207587"/>
            <a:ext cx="182832" cy="182832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2" name="Text 10"/>
          <p:cNvSpPr/>
          <p:nvPr/>
        </p:nvSpPr>
        <p:spPr>
          <a:xfrm>
            <a:off x="7770375" y="1189303"/>
            <a:ext cx="1736908" cy="2193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NMS Filter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690116" y="1207587"/>
            <a:ext cx="182832" cy="182832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14" name="Text 12"/>
          <p:cNvSpPr/>
          <p:nvPr/>
        </p:nvSpPr>
        <p:spPr>
          <a:xfrm>
            <a:off x="9918656" y="1189303"/>
            <a:ext cx="1736908" cy="2193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Files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01115" y="1830519"/>
            <a:ext cx="3656648" cy="2540068"/>
          </a:xfrm>
          <a:prstGeom prst="rect">
            <a:avLst/>
          </a:prstGeom>
          <a:solidFill>
            <a:srgbClr val="F0F8FF"/>
          </a:solidFill>
          <a:ln w="22860">
            <a:solidFill>
              <a:srgbClr val="0277B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37123" y="1601720"/>
            <a:ext cx="3473815" cy="2559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INITIALIZATION</a:t>
            </a:r>
            <a:r>
              <a:rPr lang="en-US" sz="850" b="1" dirty="0">
                <a:solidFill>
                  <a:srgbClr val="027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PHASE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47381" y="1938916"/>
            <a:ext cx="1371243" cy="731330"/>
          </a:xfrm>
          <a:prstGeom prst="rect">
            <a:avLst/>
          </a:prstGeom>
          <a:solidFill>
            <a:srgbClr val="FDECEA"/>
          </a:solidFill>
          <a:ln w="19050">
            <a:solidFill>
              <a:srgbClr val="E57373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47381" y="1938916"/>
            <a:ext cx="1371243" cy="731330"/>
          </a:xfrm>
          <a:prstGeom prst="rect">
            <a:avLst/>
          </a:prstGeom>
          <a:noFill/>
          <a:ln/>
        </p:spPr>
        <p:txBody>
          <a:bodyPr wrap="square" lIns="38090" tIns="38090" rIns="38090" bIns="38090" rtlCol="0" anchor="ctr"/>
          <a:lstStyle/>
          <a:p>
            <a:pPr algn="ctr"/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050" dirty="0"/>
          </a:p>
          <a:p>
            <a:pPr algn="ctr"/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(.jpg)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029439" y="1938916"/>
            <a:ext cx="1508367" cy="731330"/>
          </a:xfrm>
          <a:prstGeom prst="rect">
            <a:avLst/>
          </a:prstGeom>
          <a:solidFill>
            <a:srgbClr val="E3F2FD"/>
          </a:solidFill>
          <a:ln w="19050">
            <a:solidFill>
              <a:srgbClr val="64B5F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029439" y="1938916"/>
            <a:ext cx="1508367" cy="731330"/>
          </a:xfrm>
          <a:prstGeom prst="rect">
            <a:avLst/>
          </a:prstGeom>
          <a:noFill/>
          <a:ln/>
        </p:spPr>
        <p:txBody>
          <a:bodyPr wrap="square" lIns="38090" tIns="38090" rIns="38090" bIns="38090" rtlCol="0" anchor="ctr"/>
          <a:lstStyle/>
          <a:p>
            <a:pPr algn="ctr"/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spots.pt</a:t>
            </a:r>
            <a:endParaRPr lang="en-US" sz="1050" dirty="0"/>
          </a:p>
          <a:p>
            <a:pPr algn="ctr"/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Detector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718624" y="2304581"/>
            <a:ext cx="310815" cy="0"/>
          </a:xfrm>
          <a:prstGeom prst="line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sp>
      <p:sp>
        <p:nvSpPr>
          <p:cNvPr id="25" name="Shape 23"/>
          <p:cNvSpPr/>
          <p:nvPr/>
        </p:nvSpPr>
        <p:spPr>
          <a:xfrm>
            <a:off x="1389525" y="3063335"/>
            <a:ext cx="1736908" cy="731330"/>
          </a:xfrm>
          <a:prstGeom prst="rect">
            <a:avLst/>
          </a:prstGeom>
          <a:solidFill>
            <a:srgbClr val="E3F2FD"/>
          </a:solidFill>
          <a:ln w="19050">
            <a:solidFill>
              <a:srgbClr val="64B5F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389525" y="3063335"/>
            <a:ext cx="1736908" cy="731330"/>
          </a:xfrm>
          <a:prstGeom prst="rect">
            <a:avLst/>
          </a:prstGeom>
          <a:noFill/>
          <a:ln/>
        </p:spPr>
        <p:txBody>
          <a:bodyPr wrap="square" lIns="38090" tIns="38090" rIns="38090" bIns="38090" rtlCol="0" anchor="ctr"/>
          <a:lstStyle/>
          <a:p>
            <a:pPr algn="ctr"/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spots_data.json</a:t>
            </a:r>
            <a:endParaRPr lang="en-US" sz="1050" dirty="0"/>
          </a:p>
          <a:p>
            <a:pPr algn="ctr"/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bay coords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38239" y="3898889"/>
            <a:ext cx="1874033" cy="2559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50" i="1" dirty="0">
                <a:solidFill>
                  <a:srgbClr val="DE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⟳  Auto-recalibrate at 2AM  (≤2 cars)</a:t>
            </a:r>
            <a:endParaRPr lang="en-US" sz="850" dirty="0">
              <a:solidFill>
                <a:srgbClr val="DE1F45"/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2257979" y="4498569"/>
            <a:ext cx="0" cy="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023861" y="4498570"/>
            <a:ext cx="0" cy="877595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2422528" y="4065469"/>
            <a:ext cx="1645491" cy="2285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i="1" dirty="0">
                <a:solidFill>
                  <a:srgbClr val="DE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BEV coords</a:t>
            </a:r>
            <a:endParaRPr lang="en-US" sz="800" dirty="0">
              <a:solidFill>
                <a:srgbClr val="DE1F45"/>
              </a:solidFill>
            </a:endParaRPr>
          </a:p>
        </p:txBody>
      </p:sp>
      <p:sp>
        <p:nvSpPr>
          <p:cNvPr id="33" name="Shape 31"/>
          <p:cNvSpPr/>
          <p:nvPr/>
        </p:nvSpPr>
        <p:spPr>
          <a:xfrm>
            <a:off x="201115" y="4315738"/>
            <a:ext cx="11756122" cy="2312830"/>
          </a:xfrm>
          <a:prstGeom prst="rect">
            <a:avLst/>
          </a:prstGeom>
          <a:solidFill>
            <a:srgbClr val="FFF8F8"/>
          </a:solidFill>
          <a:ln w="22860">
            <a:solidFill>
              <a:srgbClr val="C0392B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156955" y="4091767"/>
            <a:ext cx="11573289" cy="219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PROCESSING LOOP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92531" y="4562561"/>
            <a:ext cx="11573289" cy="18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(every frame)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455531" y="4452861"/>
            <a:ext cx="1371243" cy="594205"/>
          </a:xfrm>
          <a:prstGeom prst="rect">
            <a:avLst/>
          </a:prstGeom>
          <a:solidFill>
            <a:srgbClr val="FFF3E0"/>
          </a:solidFill>
          <a:ln w="19050">
            <a:solidFill>
              <a:srgbClr val="FFA72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455531" y="4452861"/>
            <a:ext cx="1371243" cy="594205"/>
          </a:xfrm>
          <a:prstGeom prst="rect">
            <a:avLst/>
          </a:prstGeom>
          <a:noFill/>
          <a:ln/>
        </p:spPr>
        <p:txBody>
          <a:bodyPr wrap="square" lIns="38090" tIns="38090" rIns="38090" bIns="38090" rtlCol="0" anchor="ctr"/>
          <a:lstStyle/>
          <a:p>
            <a:pPr algn="ctr"/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NMS Filter</a:t>
            </a:r>
            <a:endParaRPr lang="en-US" sz="1050" dirty="0"/>
          </a:p>
          <a:p>
            <a:pPr algn="ctr"/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IoU&gt;0.4 suppressed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009607" y="4452861"/>
            <a:ext cx="1508367" cy="594205"/>
          </a:xfrm>
          <a:prstGeom prst="rect">
            <a:avLst/>
          </a:prstGeom>
          <a:solidFill>
            <a:srgbClr val="ECEFF1"/>
          </a:solidFill>
          <a:ln w="19050">
            <a:solidFill>
              <a:srgbClr val="90A4A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009607" y="4452861"/>
            <a:ext cx="1508367" cy="594205"/>
          </a:xfrm>
          <a:prstGeom prst="rect">
            <a:avLst/>
          </a:prstGeom>
          <a:noFill/>
          <a:ln/>
        </p:spPr>
        <p:txBody>
          <a:bodyPr wrap="square" lIns="38090" tIns="38090" rIns="38090" bIns="38090" rtlCol="0" anchor="ctr"/>
          <a:lstStyle/>
          <a:p>
            <a:pPr algn="ctr"/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config.yaml</a:t>
            </a:r>
            <a:endParaRPr lang="en-US" sz="1050" dirty="0"/>
          </a:p>
          <a:p>
            <a:pPr algn="ctr"/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 · paths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783081" y="4452861"/>
            <a:ext cx="1599783" cy="594205"/>
          </a:xfrm>
          <a:prstGeom prst="rect">
            <a:avLst/>
          </a:prstGeom>
          <a:solidFill>
            <a:srgbClr val="ECEFF1"/>
          </a:solidFill>
          <a:ln w="19050">
            <a:solidFill>
              <a:srgbClr val="90A4A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783081" y="4452861"/>
            <a:ext cx="1599783" cy="594205"/>
          </a:xfrm>
          <a:prstGeom prst="rect">
            <a:avLst/>
          </a:prstGeom>
          <a:noFill/>
          <a:ln/>
        </p:spPr>
        <p:txBody>
          <a:bodyPr wrap="square" lIns="38090" tIns="38090" rIns="38090" bIns="38090" rtlCol="0" anchor="ctr"/>
          <a:lstStyle/>
          <a:p>
            <a:pPr algn="ctr"/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homography.json</a:t>
            </a:r>
            <a:endParaRPr lang="en-US" sz="1050" dirty="0"/>
          </a:p>
          <a:p>
            <a:pPr algn="ctr"/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 calibration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160009" y="5057343"/>
            <a:ext cx="5027890" cy="2011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i="1" dirty="0">
                <a:solidFill>
                  <a:srgbClr val="DE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⟳  Self-Healing Recalibration at 2:00 AM</a:t>
            </a:r>
            <a:endParaRPr lang="en-US" sz="800" dirty="0">
              <a:solidFill>
                <a:srgbClr val="DE1F45"/>
              </a:solidFill>
            </a:endParaRPr>
          </a:p>
        </p:txBody>
      </p:sp>
      <p:sp>
        <p:nvSpPr>
          <p:cNvPr id="43" name="Shape 41"/>
          <p:cNvSpPr/>
          <p:nvPr/>
        </p:nvSpPr>
        <p:spPr>
          <a:xfrm>
            <a:off x="338239" y="5376165"/>
            <a:ext cx="1371243" cy="1005578"/>
          </a:xfrm>
          <a:prstGeom prst="rect">
            <a:avLst/>
          </a:prstGeom>
          <a:solidFill>
            <a:srgbClr val="FDECEA"/>
          </a:solidFill>
          <a:ln w="19050">
            <a:solidFill>
              <a:srgbClr val="E57373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338239" y="5376165"/>
            <a:ext cx="1371243" cy="1005578"/>
          </a:xfrm>
          <a:prstGeom prst="rect">
            <a:avLst/>
          </a:prstGeom>
          <a:noFill/>
          <a:ln/>
        </p:spPr>
        <p:txBody>
          <a:bodyPr wrap="square" lIns="38090" tIns="38090" rIns="38090" bIns="38090" rtlCol="0" anchor="ctr"/>
          <a:lstStyle/>
          <a:p>
            <a:pPr algn="ctr"/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 / Live</a:t>
            </a:r>
            <a:endParaRPr lang="en-US" sz="1050" dirty="0"/>
          </a:p>
          <a:p>
            <a:pPr algn="ctr"/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Feed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1709482" y="5878954"/>
            <a:ext cx="246824" cy="0"/>
          </a:xfrm>
          <a:prstGeom prst="line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sp>
      <p:sp>
        <p:nvSpPr>
          <p:cNvPr id="46" name="Shape 44"/>
          <p:cNvSpPr/>
          <p:nvPr/>
        </p:nvSpPr>
        <p:spPr>
          <a:xfrm>
            <a:off x="1956306" y="5376165"/>
            <a:ext cx="1371243" cy="1005578"/>
          </a:xfrm>
          <a:prstGeom prst="rect">
            <a:avLst/>
          </a:prstGeom>
          <a:solidFill>
            <a:srgbClr val="FDECEA"/>
          </a:solidFill>
          <a:ln w="19050">
            <a:solidFill>
              <a:srgbClr val="E57373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1956306" y="5376165"/>
            <a:ext cx="1371243" cy="1005578"/>
          </a:xfrm>
          <a:prstGeom prst="rect">
            <a:avLst/>
          </a:prstGeom>
          <a:noFill/>
          <a:ln/>
        </p:spPr>
        <p:txBody>
          <a:bodyPr wrap="square" lIns="38090" tIns="38090" rIns="38090" bIns="38090" rtlCol="0" anchor="ctr"/>
          <a:lstStyle/>
          <a:p>
            <a:pPr algn="ctr"/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Frame</a:t>
            </a:r>
            <a:endParaRPr lang="en-US" sz="1050" dirty="0"/>
          </a:p>
          <a:p>
            <a:pPr algn="ctr"/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frame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3327549" y="5878954"/>
            <a:ext cx="246824" cy="0"/>
          </a:xfrm>
          <a:prstGeom prst="line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sp>
      <p:sp>
        <p:nvSpPr>
          <p:cNvPr id="49" name="Shape 47"/>
          <p:cNvSpPr/>
          <p:nvPr/>
        </p:nvSpPr>
        <p:spPr>
          <a:xfrm>
            <a:off x="3574372" y="5376165"/>
            <a:ext cx="1371243" cy="1005578"/>
          </a:xfrm>
          <a:prstGeom prst="rect">
            <a:avLst/>
          </a:prstGeom>
          <a:solidFill>
            <a:srgbClr val="FDECEA"/>
          </a:solidFill>
          <a:ln w="19050">
            <a:solidFill>
              <a:srgbClr val="E57373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3574372" y="5376165"/>
            <a:ext cx="1371243" cy="1005578"/>
          </a:xfrm>
          <a:prstGeom prst="rect">
            <a:avLst/>
          </a:prstGeom>
          <a:noFill/>
          <a:ln/>
        </p:spPr>
        <p:txBody>
          <a:bodyPr wrap="square" lIns="38090" tIns="38090" rIns="38090" bIns="38090" rtlCol="0" anchor="ctr"/>
          <a:lstStyle/>
          <a:p>
            <a:pPr algn="ctr"/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best.pt</a:t>
            </a:r>
            <a:endParaRPr lang="en-US" sz="1050" dirty="0"/>
          </a:p>
          <a:p>
            <a:pPr algn="ctr"/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Detector</a:t>
            </a:r>
            <a:endParaRPr lang="en-US" sz="1050" dirty="0"/>
          </a:p>
          <a:p>
            <a:pPr algn="ctr"/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Tracker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4945615" y="5878954"/>
            <a:ext cx="246824" cy="0"/>
          </a:xfrm>
          <a:prstGeom prst="line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sp>
      <p:sp>
        <p:nvSpPr>
          <p:cNvPr id="52" name="Shape 50"/>
          <p:cNvSpPr/>
          <p:nvPr/>
        </p:nvSpPr>
        <p:spPr>
          <a:xfrm>
            <a:off x="5192439" y="5376165"/>
            <a:ext cx="1371243" cy="1005578"/>
          </a:xfrm>
          <a:prstGeom prst="rect">
            <a:avLst/>
          </a:prstGeom>
          <a:solidFill>
            <a:srgbClr val="E3F2FD"/>
          </a:solidFill>
          <a:ln w="19050">
            <a:solidFill>
              <a:srgbClr val="64B5F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5192439" y="5376165"/>
            <a:ext cx="1371243" cy="1005578"/>
          </a:xfrm>
          <a:prstGeom prst="rect">
            <a:avLst/>
          </a:prstGeom>
          <a:noFill/>
          <a:ln/>
        </p:spPr>
        <p:txBody>
          <a:bodyPr wrap="square" lIns="38090" tIns="38090" rIns="38090" bIns="38090" rtlCol="0" anchor="ctr"/>
          <a:lstStyle/>
          <a:p>
            <a:pPr algn="ctr"/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Bird's Eye</a:t>
            </a:r>
            <a:endParaRPr lang="en-US" sz="1050" dirty="0"/>
          </a:p>
          <a:p>
            <a:pPr algn="ctr"/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050" dirty="0"/>
          </a:p>
          <a:p>
            <a:pPr algn="ctr"/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</a:t>
            </a:r>
            <a:endParaRPr lang="en-US" sz="1050" dirty="0"/>
          </a:p>
          <a:p>
            <a:pPr algn="ctr"/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6563682" y="5878954"/>
            <a:ext cx="246824" cy="0"/>
          </a:xfrm>
          <a:prstGeom prst="line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sp>
      <p:sp>
        <p:nvSpPr>
          <p:cNvPr id="55" name="Shape 53"/>
          <p:cNvSpPr/>
          <p:nvPr/>
        </p:nvSpPr>
        <p:spPr>
          <a:xfrm>
            <a:off x="6810505" y="5376165"/>
            <a:ext cx="1371243" cy="1005578"/>
          </a:xfrm>
          <a:prstGeom prst="rect">
            <a:avLst/>
          </a:prstGeom>
          <a:solidFill>
            <a:srgbClr val="E8F5E9"/>
          </a:solidFill>
          <a:ln w="19050">
            <a:solidFill>
              <a:srgbClr val="66BB6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6810505" y="5376165"/>
            <a:ext cx="1371243" cy="1005578"/>
          </a:xfrm>
          <a:prstGeom prst="rect">
            <a:avLst/>
          </a:prstGeom>
          <a:noFill/>
          <a:ln/>
        </p:spPr>
        <p:txBody>
          <a:bodyPr wrap="square" lIns="38090" tIns="38090" rIns="38090" bIns="38090" rtlCol="0" anchor="ctr"/>
          <a:lstStyle/>
          <a:p>
            <a:pPr algn="ctr"/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BEV</a:t>
            </a:r>
            <a:endParaRPr lang="en-US" sz="1050" dirty="0"/>
          </a:p>
          <a:p>
            <a:pPr algn="ctr"/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O(K log K)</a:t>
            </a:r>
            <a:endParaRPr lang="en-US" sz="1050" dirty="0"/>
          </a:p>
          <a:p>
            <a:pPr algn="ctr"/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70px threshold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8181748" y="5878954"/>
            <a:ext cx="246824" cy="0"/>
          </a:xfrm>
          <a:prstGeom prst="line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sp>
      <p:sp>
        <p:nvSpPr>
          <p:cNvPr id="58" name="Shape 56"/>
          <p:cNvSpPr/>
          <p:nvPr/>
        </p:nvSpPr>
        <p:spPr>
          <a:xfrm>
            <a:off x="8428572" y="5376165"/>
            <a:ext cx="1371243" cy="1005578"/>
          </a:xfrm>
          <a:prstGeom prst="rect">
            <a:avLst/>
          </a:prstGeom>
          <a:solidFill>
            <a:srgbClr val="FDECEA"/>
          </a:solidFill>
          <a:ln w="19050">
            <a:solidFill>
              <a:srgbClr val="E57373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8428572" y="5376165"/>
            <a:ext cx="1371243" cy="1005578"/>
          </a:xfrm>
          <a:prstGeom prst="rect">
            <a:avLst/>
          </a:prstGeom>
          <a:noFill/>
          <a:ln/>
        </p:spPr>
        <p:txBody>
          <a:bodyPr wrap="square" lIns="38090" tIns="38090" rIns="38090" bIns="38090" rtlCol="0" anchor="ctr"/>
          <a:lstStyle/>
          <a:p>
            <a:pPr algn="ctr"/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</a:t>
            </a:r>
            <a:endParaRPr lang="en-US" sz="1050" dirty="0"/>
          </a:p>
          <a:p>
            <a:pPr algn="ctr"/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↔ Spot</a:t>
            </a:r>
            <a:endParaRPr lang="en-US" sz="1050" dirty="0"/>
          </a:p>
          <a:p>
            <a:pPr algn="ctr"/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9799815" y="5878954"/>
            <a:ext cx="246824" cy="0"/>
          </a:xfrm>
          <a:prstGeom prst="line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sp>
      <p:sp>
        <p:nvSpPr>
          <p:cNvPr id="61" name="Shape 59"/>
          <p:cNvSpPr/>
          <p:nvPr/>
        </p:nvSpPr>
        <p:spPr>
          <a:xfrm>
            <a:off x="10046638" y="5376165"/>
            <a:ext cx="1371243" cy="1005578"/>
          </a:xfrm>
          <a:prstGeom prst="rect">
            <a:avLst/>
          </a:prstGeom>
          <a:solidFill>
            <a:srgbClr val="E8F5E9"/>
          </a:solidFill>
          <a:ln w="19050">
            <a:solidFill>
              <a:srgbClr val="66BB6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10046638" y="5376165"/>
            <a:ext cx="1371243" cy="1005578"/>
          </a:xfrm>
          <a:prstGeom prst="rect">
            <a:avLst/>
          </a:prstGeom>
          <a:noFill/>
          <a:ln/>
        </p:spPr>
        <p:txBody>
          <a:bodyPr wrap="square" lIns="38090" tIns="38090" rIns="38090" bIns="38090" rtlCol="0" anchor="ctr"/>
          <a:lstStyle/>
          <a:p>
            <a:pPr algn="ctr"/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50" dirty="0"/>
          </a:p>
          <a:p>
            <a:pPr algn="ctr"/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FREE/OCCUPIED</a:t>
            </a:r>
            <a:endParaRPr lang="en-US" sz="1050" dirty="0"/>
          </a:p>
          <a:p>
            <a:pPr algn="ctr"/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 (OpenCV)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4141153" y="5047067"/>
            <a:ext cx="118841" cy="329098"/>
          </a:xfrm>
          <a:prstGeom prst="line">
            <a:avLst/>
          </a:prstGeom>
          <a:noFill/>
          <a:ln w="19050">
            <a:solidFill>
              <a:srgbClr val="E65100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5763790" y="5047067"/>
            <a:ext cx="114270" cy="329098"/>
          </a:xfrm>
          <a:prstGeom prst="line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sp>
      <p:sp>
        <p:nvSpPr>
          <p:cNvPr id="65" name="Shape 63"/>
          <p:cNvSpPr/>
          <p:nvPr/>
        </p:nvSpPr>
        <p:spPr>
          <a:xfrm>
            <a:off x="7582972" y="5047067"/>
            <a:ext cx="0" cy="329098"/>
          </a:xfrm>
          <a:prstGeom prst="line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sp>
      <p:sp>
        <p:nvSpPr>
          <p:cNvPr id="67" name="Text 65"/>
          <p:cNvSpPr/>
          <p:nvPr/>
        </p:nvSpPr>
        <p:spPr>
          <a:xfrm>
            <a:off x="11792687" y="6628567"/>
            <a:ext cx="274249" cy="182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8D35394D-33D4-494B-21DF-C51459EC2230}"/>
              </a:ext>
            </a:extLst>
          </p:cNvPr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C80EA226-D1AA-43D2-0DDD-2E2B6A8E269C}"/>
              </a:ext>
            </a:extLst>
          </p:cNvPr>
          <p:cNvSpPr/>
          <p:nvPr/>
        </p:nvSpPr>
        <p:spPr>
          <a:xfrm>
            <a:off x="457200" y="707586"/>
            <a:ext cx="1463040" cy="4114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690EB76-159E-D7F2-EB83-3317075B43F4}"/>
              </a:ext>
            </a:extLst>
          </p:cNvPr>
          <p:cNvSpPr txBox="1"/>
          <p:nvPr/>
        </p:nvSpPr>
        <p:spPr>
          <a:xfrm>
            <a:off x="457200" y="18288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DC143C"/>
                </a:solidFill>
                <a:latin typeface="Calibri"/>
              </a:rPr>
              <a:t>System </a:t>
            </a:r>
            <a:r>
              <a:rPr lang="en-US" sz="2800" b="1" i="0" dirty="0">
                <a:solidFill>
                  <a:srgbClr val="DC143C"/>
                </a:solidFill>
                <a:latin typeface="Calibri"/>
              </a:rPr>
              <a:t>Architecture</a:t>
            </a:r>
            <a:endParaRPr sz="2800" b="1" i="0" dirty="0">
              <a:solidFill>
                <a:srgbClr val="DC143C"/>
              </a:solidFill>
              <a:latin typeface="Calibri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126433" y="3794665"/>
            <a:ext cx="2066006" cy="158150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sp>
      <p:sp>
        <p:nvSpPr>
          <p:cNvPr id="23" name="Shape 21"/>
          <p:cNvSpPr/>
          <p:nvPr/>
        </p:nvSpPr>
        <p:spPr>
          <a:xfrm>
            <a:off x="1033002" y="2670244"/>
            <a:ext cx="356524" cy="405899"/>
          </a:xfrm>
          <a:prstGeom prst="line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C143C"/>
                </a:solidFill>
                <a:latin typeface="Calibri"/>
              </a:rPr>
              <a:t>Implementation &amp; Tools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5120640" cy="566928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54864" cy="56692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216152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143C"/>
                </a:solidFill>
                <a:latin typeface="Calibri"/>
              </a:rPr>
              <a:t>Python 3.8+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123444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Core programming language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801368"/>
            <a:ext cx="5120640" cy="566928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801368"/>
            <a:ext cx="54864" cy="56692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874519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143C"/>
                </a:solidFill>
                <a:latin typeface="Calibri"/>
              </a:rPr>
              <a:t>OpenCV 4.x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1892807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Video capture, BEV transform, visualisation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459736"/>
            <a:ext cx="5120640" cy="566928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5760" y="2459736"/>
            <a:ext cx="54864" cy="56692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2532888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143C"/>
                </a:solidFill>
                <a:latin typeface="Calibri"/>
              </a:rPr>
              <a:t>Ultralytics YOLOv11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2551176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Object detection &amp; real-time tracking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118104"/>
            <a:ext cx="5120640" cy="566928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65760" y="3118104"/>
            <a:ext cx="54864" cy="56692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3191256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143C"/>
                </a:solidFill>
                <a:latin typeface="Calibri"/>
              </a:rPr>
              <a:t>NumPy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3209544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Numerical arrays &amp; distance computation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776472"/>
            <a:ext cx="5120640" cy="566928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65760" y="3776472"/>
            <a:ext cx="54864" cy="56692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3849624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143C"/>
                </a:solidFill>
                <a:latin typeface="Calibri"/>
              </a:rPr>
              <a:t>PyYAML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4600" y="3867911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Configuration file loading (config.yaml)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434840"/>
            <a:ext cx="5120640" cy="566928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65760" y="4434840"/>
            <a:ext cx="54864" cy="56692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" y="4507992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143C"/>
                </a:solidFill>
                <a:latin typeface="Calibri"/>
              </a:rPr>
              <a:t>JSON stdlib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14600" y="4526279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2E"/>
                </a:solidFill>
                <a:latin typeface="Calibri"/>
              </a:rPr>
              <a:t>Persistent spot coordinate storage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1097280"/>
            <a:ext cx="5852160" cy="512064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080760" y="114300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143C"/>
                </a:solidFill>
                <a:latin typeface="Calibri"/>
              </a:rPr>
              <a:t>Module Structure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1600200"/>
            <a:ext cx="5486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1A1A2E"/>
                </a:solidFill>
                <a:latin typeface="Calibri"/>
              </a:rPr>
              <a:t>src/main.py           — </a:t>
            </a:r>
            <a:r>
              <a:rPr lang="en-US" sz="1000" b="0" i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000" b="0" i="0" dirty="0">
                <a:solidFill>
                  <a:srgbClr val="1A1A2E"/>
                </a:solidFill>
                <a:latin typeface="Calibri"/>
              </a:rPr>
              <a:t>Entry point &amp; main loop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2084832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1A1A2E"/>
                </a:solidFill>
                <a:latin typeface="Calibri"/>
              </a:rPr>
              <a:t>modules/detector/     — YOLOv11 car detector wrapper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60" y="2569464"/>
            <a:ext cx="5486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1A1A2E"/>
                </a:solidFill>
                <a:latin typeface="Calibri"/>
              </a:rPr>
              <a:t>modules/</a:t>
            </a:r>
            <a:r>
              <a:rPr sz="1000" b="0" i="0" dirty="0" err="1">
                <a:solidFill>
                  <a:srgbClr val="1A1A2E"/>
                </a:solidFill>
                <a:latin typeface="Calibri"/>
              </a:rPr>
              <a:t>parking_logic</a:t>
            </a:r>
            <a:r>
              <a:rPr sz="1000" b="0" i="0" dirty="0">
                <a:solidFill>
                  <a:srgbClr val="1A1A2E"/>
                </a:solidFill>
                <a:latin typeface="Calibri"/>
              </a:rPr>
              <a:t>/</a:t>
            </a:r>
            <a:r>
              <a:rPr lang="en-US" sz="1000" b="0" i="0" dirty="0">
                <a:solidFill>
                  <a:srgbClr val="1A1A2E"/>
                </a:solidFill>
                <a:latin typeface="Calibri"/>
              </a:rPr>
              <a:t> </a:t>
            </a:r>
            <a:endParaRPr sz="1000" b="0" i="0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080760" y="3054096"/>
            <a:ext cx="5486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 dirty="0">
                <a:solidFill>
                  <a:srgbClr val="1A1A2E"/>
                </a:solidFill>
                <a:latin typeface="Calibri"/>
              </a:rPr>
              <a:t>  </a:t>
            </a:r>
            <a:r>
              <a:rPr lang="en-US" sz="1000" i="1" dirty="0">
                <a:solidFill>
                  <a:srgbClr val="1A1A2E"/>
                </a:solidFill>
                <a:latin typeface="Calibri"/>
              </a:rPr>
              <a:t>/</a:t>
            </a:r>
            <a:r>
              <a:rPr sz="1000" b="0" i="1" dirty="0">
                <a:solidFill>
                  <a:srgbClr val="1A1A2E"/>
                </a:solidFill>
                <a:latin typeface="Calibri"/>
              </a:rPr>
              <a:t>spot_manager.py   — Spot detection, NMS, BEV matching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80760" y="3538728"/>
            <a:ext cx="5486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 dirty="0">
                <a:solidFill>
                  <a:srgbClr val="1A1A2E"/>
                </a:solidFill>
                <a:latin typeface="Calibri"/>
              </a:rPr>
              <a:t>  </a:t>
            </a:r>
            <a:r>
              <a:rPr lang="en-US" sz="1000" i="1" dirty="0">
                <a:solidFill>
                  <a:srgbClr val="1A1A2E"/>
                </a:solidFill>
                <a:latin typeface="Calibri"/>
              </a:rPr>
              <a:t>/</a:t>
            </a:r>
            <a:r>
              <a:rPr sz="1000" b="0" i="1" dirty="0">
                <a:solidFill>
                  <a:srgbClr val="1A1A2E"/>
                </a:solidFill>
                <a:latin typeface="Calibri"/>
              </a:rPr>
              <a:t>perspective.py    — Homography / BEV transform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60" y="4023360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1A1A2E"/>
                </a:solidFill>
                <a:latin typeface="Calibri"/>
              </a:rPr>
              <a:t>src/visualization.py  — OpenCV drawing utilities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80760" y="4507992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config/config.yaml    — Runtime settings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0760" y="4992624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config/spots_data.json— 37 persisted spot coords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80760" y="5477256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config/reference.jpg  — Empty lot reference image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6400800"/>
            <a:ext cx="11457432" cy="18288"/>
          </a:xfrm>
          <a:prstGeom prst="rect">
            <a:avLst/>
          </a:prstGeom>
          <a:solidFill>
            <a:srgbClr val="60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6070"/>
                </a:solidFill>
                <a:latin typeface="Calibri"/>
              </a:rPr>
              <a:t>7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75F146A-F7B4-8569-F1F3-12679A8D04E4}"/>
              </a:ext>
            </a:extLst>
          </p:cNvPr>
          <p:cNvSpPr/>
          <p:nvPr/>
        </p:nvSpPr>
        <p:spPr>
          <a:xfrm>
            <a:off x="457200" y="707586"/>
            <a:ext cx="1463040" cy="4114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1812E9-1ADC-8784-E2D7-7D4865ABCAB4}"/>
              </a:ext>
            </a:extLst>
          </p:cNvPr>
          <p:cNvSpPr/>
          <p:nvPr/>
        </p:nvSpPr>
        <p:spPr>
          <a:xfrm>
            <a:off x="365760" y="5120641"/>
            <a:ext cx="5120640" cy="566928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DC967F7-B953-5C2F-289D-47E12004C765}"/>
              </a:ext>
            </a:extLst>
          </p:cNvPr>
          <p:cNvSpPr/>
          <p:nvPr/>
        </p:nvSpPr>
        <p:spPr>
          <a:xfrm>
            <a:off x="365760" y="5120641"/>
            <a:ext cx="54864" cy="56692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928A692-41B0-5E1E-4F52-06DA86EE693E}"/>
              </a:ext>
            </a:extLst>
          </p:cNvPr>
          <p:cNvSpPr txBox="1"/>
          <p:nvPr/>
        </p:nvSpPr>
        <p:spPr>
          <a:xfrm>
            <a:off x="548640" y="5193793"/>
            <a:ext cx="19202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300" b="1" dirty="0" err="1">
                <a:solidFill>
                  <a:srgbClr val="DC143C"/>
                </a:solidFill>
                <a:latin typeface="Calibri"/>
              </a:rPr>
              <a:t>Roboflow</a:t>
            </a:r>
            <a:endParaRPr sz="1300" b="1" i="0" dirty="0">
              <a:solidFill>
                <a:srgbClr val="DC143C"/>
              </a:solidFill>
              <a:latin typeface="Calibri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8D128A7-62D1-9816-9F3B-4710D138C407}"/>
              </a:ext>
            </a:extLst>
          </p:cNvPr>
          <p:cNvSpPr txBox="1"/>
          <p:nvPr/>
        </p:nvSpPr>
        <p:spPr>
          <a:xfrm>
            <a:off x="2514600" y="5212080"/>
            <a:ext cx="2834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0" i="0" dirty="0">
                <a:solidFill>
                  <a:srgbClr val="1A1A2E"/>
                </a:solidFill>
                <a:latin typeface="Calibri"/>
              </a:rPr>
              <a:t>End to end computer vision web platform</a:t>
            </a:r>
            <a:endParaRPr sz="1200" b="0" i="0" dirty="0">
              <a:solidFill>
                <a:srgbClr val="1A1A2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DC143C"/>
                </a:solidFill>
                <a:latin typeface="Calibri"/>
              </a:rPr>
              <a:t>Core Technical Method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5577840" cy="237744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54864" cy="237744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212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DC143C"/>
                </a:solidFill>
                <a:latin typeface="Calibri"/>
              </a:rPr>
              <a:t>Dual YOLOv11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710482"/>
            <a:ext cx="5212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2E"/>
                </a:solidFill>
                <a:latin typeface="Calibri"/>
              </a:rPr>
              <a:t>• spots.pt — detects empty bay boundaries from a reference image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40280"/>
            <a:ext cx="5212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2E"/>
                </a:solidFill>
                <a:latin typeface="Calibri"/>
              </a:rPr>
              <a:t>• best.pt — tracks vehicles frame-by-frame in live video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49728"/>
            <a:ext cx="521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2E"/>
                </a:solidFill>
                <a:latin typeface="Calibri"/>
              </a:rPr>
              <a:t>• Each model is specialized, smaller, and more accurate than a single multi-task 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794760"/>
            <a:ext cx="5577840" cy="237744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3794760"/>
            <a:ext cx="54864" cy="237744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3886200"/>
            <a:ext cx="5212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DC143C"/>
                </a:solidFill>
                <a:latin typeface="Calibri"/>
              </a:rPr>
              <a:t>Homography / Bird's Eye 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25112"/>
            <a:ext cx="5212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2E"/>
                </a:solidFill>
                <a:latin typeface="Calibri"/>
              </a:rPr>
              <a:t>• 4 anchor points map camera view → flat top-down canvas (400 × 800 </a:t>
            </a:r>
            <a:r>
              <a:rPr sz="1200" b="0" i="0" dirty="0" err="1">
                <a:solidFill>
                  <a:srgbClr val="1A1A2E"/>
                </a:solidFill>
                <a:latin typeface="Calibri"/>
              </a:rPr>
              <a:t>px</a:t>
            </a:r>
            <a:r>
              <a:rPr sz="1200" b="0" i="0" dirty="0">
                <a:solidFill>
                  <a:srgbClr val="1A1A2E"/>
                </a:solidFill>
                <a:latin typeface="Calibri"/>
              </a:rPr>
              <a:t>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852804"/>
            <a:ext cx="5212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2E"/>
                </a:solidFill>
                <a:latin typeface="Calibri"/>
              </a:rPr>
              <a:t>• Car's </a:t>
            </a:r>
            <a:r>
              <a:rPr sz="1200" b="0" i="0" dirty="0" err="1">
                <a:solidFill>
                  <a:srgbClr val="1A1A2E"/>
                </a:solidFill>
                <a:latin typeface="Calibri"/>
              </a:rPr>
              <a:t>tyre</a:t>
            </a:r>
            <a:r>
              <a:rPr sz="1200" b="0" i="0" dirty="0">
                <a:solidFill>
                  <a:srgbClr val="1A1A2E"/>
                </a:solidFill>
                <a:latin typeface="Calibri"/>
              </a:rPr>
              <a:t> contact point &amp; spot </a:t>
            </a:r>
            <a:r>
              <a:rPr sz="1200" b="0" i="0" dirty="0" err="1">
                <a:solidFill>
                  <a:srgbClr val="1A1A2E"/>
                </a:solidFill>
                <a:latin typeface="Calibri"/>
              </a:rPr>
              <a:t>centre</a:t>
            </a:r>
            <a:r>
              <a:rPr sz="1200" b="0" i="0" dirty="0">
                <a:solidFill>
                  <a:srgbClr val="1A1A2E"/>
                </a:solidFill>
                <a:latin typeface="Calibri"/>
              </a:rPr>
              <a:t> both projected to BEV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404123"/>
            <a:ext cx="5212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2E"/>
                </a:solidFill>
                <a:latin typeface="Calibri"/>
              </a:rPr>
              <a:t>• Eliminates perspective-induced scale variation between near/far spots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1143000"/>
            <a:ext cx="5577840" cy="237744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55080" y="1143000"/>
            <a:ext cx="54864" cy="237744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60" y="1234440"/>
            <a:ext cx="5212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DC143C"/>
                </a:solidFill>
                <a:latin typeface="Calibri"/>
              </a:rPr>
              <a:t>Distance-Based Greedy Matching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1673352"/>
            <a:ext cx="5212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• All (car, spot) BEV distance pairs computed each frame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221411"/>
            <a:ext cx="5212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2E"/>
                </a:solidFill>
                <a:latin typeface="Calibri"/>
              </a:rPr>
              <a:t>• Sorted ascending — closest pairs assigned first (greedy, O(K log K))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788339"/>
            <a:ext cx="5212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2E"/>
                </a:solidFill>
                <a:latin typeface="Calibri"/>
              </a:rPr>
              <a:t>• 70 </a:t>
            </a:r>
            <a:r>
              <a:rPr sz="1200" b="0" i="0" dirty="0" err="1">
                <a:solidFill>
                  <a:srgbClr val="1A1A2E"/>
                </a:solidFill>
                <a:latin typeface="Calibri"/>
              </a:rPr>
              <a:t>px</a:t>
            </a:r>
            <a:r>
              <a:rPr sz="1200" b="0" i="0" dirty="0">
                <a:solidFill>
                  <a:srgbClr val="1A1A2E"/>
                </a:solidFill>
                <a:latin typeface="Calibri"/>
              </a:rPr>
              <a:t> BEV threshold rejects implausible matches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3794760"/>
            <a:ext cx="5577840" cy="237744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355080" y="3794760"/>
            <a:ext cx="54864" cy="237744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37960" y="3886200"/>
            <a:ext cx="5212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C143C"/>
                </a:solidFill>
                <a:latin typeface="Calibri"/>
              </a:rPr>
              <a:t>Self-Healing Recalibration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4325112"/>
            <a:ext cx="5212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• Simulated clock triggers spot re-scan at 2:00 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4876431"/>
            <a:ext cx="5212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• Only fires when ≤ 2 cars detected (low traffic window)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5438001"/>
            <a:ext cx="5212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• Re-saves spots_data.json — no human annotation required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6400800"/>
            <a:ext cx="11457432" cy="18288"/>
          </a:xfrm>
          <a:prstGeom prst="rect">
            <a:avLst/>
          </a:prstGeom>
          <a:solidFill>
            <a:srgbClr val="60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6070"/>
                </a:solidFill>
                <a:latin typeface="Calibri"/>
              </a:rPr>
              <a:t>6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6BA9528-908D-BEB1-628E-1D86E624B3D8}"/>
              </a:ext>
            </a:extLst>
          </p:cNvPr>
          <p:cNvSpPr/>
          <p:nvPr/>
        </p:nvSpPr>
        <p:spPr>
          <a:xfrm>
            <a:off x="457200" y="707586"/>
            <a:ext cx="1463040" cy="4114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365664" y="1036943"/>
            <a:ext cx="5484971" cy="731330"/>
          </a:xfrm>
          <a:prstGeom prst="rect">
            <a:avLst/>
          </a:prstGeom>
          <a:solidFill>
            <a:srgbClr val="DC143C"/>
          </a:solidFill>
          <a:ln/>
        </p:spPr>
      </p:sp>
      <p:sp>
        <p:nvSpPr>
          <p:cNvPr id="5" name="Text 3"/>
          <p:cNvSpPr/>
          <p:nvPr/>
        </p:nvSpPr>
        <p:spPr>
          <a:xfrm>
            <a:off x="365664" y="1036943"/>
            <a:ext cx="5484971" cy="7313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spots.pt  —  Spot Detector</a:t>
            </a:r>
            <a:endParaRPr lang="en-US" sz="1866" dirty="0"/>
          </a:p>
        </p:txBody>
      </p:sp>
      <p:sp>
        <p:nvSpPr>
          <p:cNvPr id="6" name="Shape 4"/>
          <p:cNvSpPr/>
          <p:nvPr/>
        </p:nvSpPr>
        <p:spPr>
          <a:xfrm>
            <a:off x="365664" y="1829217"/>
            <a:ext cx="5484971" cy="767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487552" y="1829217"/>
            <a:ext cx="1218883" cy="76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6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466" dirty="0"/>
          </a:p>
        </p:txBody>
      </p:sp>
      <p:sp>
        <p:nvSpPr>
          <p:cNvPr id="8" name="Text 6"/>
          <p:cNvSpPr/>
          <p:nvPr/>
        </p:nvSpPr>
        <p:spPr>
          <a:xfrm>
            <a:off x="1767379" y="1829217"/>
            <a:ext cx="3961368" cy="76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6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reference image (config/reference.jpg)</a:t>
            </a:r>
            <a:endParaRPr lang="en-US" sz="1466" dirty="0"/>
          </a:p>
        </p:txBody>
      </p:sp>
      <p:sp>
        <p:nvSpPr>
          <p:cNvPr id="9" name="Shape 7"/>
          <p:cNvSpPr/>
          <p:nvPr/>
        </p:nvSpPr>
        <p:spPr>
          <a:xfrm>
            <a:off x="365664" y="2658057"/>
            <a:ext cx="5484971" cy="76789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</p:sp>
      <p:sp>
        <p:nvSpPr>
          <p:cNvPr id="10" name="Text 8"/>
          <p:cNvSpPr/>
          <p:nvPr/>
        </p:nvSpPr>
        <p:spPr>
          <a:xfrm>
            <a:off x="487552" y="2658057"/>
            <a:ext cx="1218883" cy="76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6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466" dirty="0"/>
          </a:p>
        </p:txBody>
      </p:sp>
      <p:sp>
        <p:nvSpPr>
          <p:cNvPr id="11" name="Text 9"/>
          <p:cNvSpPr/>
          <p:nvPr/>
        </p:nvSpPr>
        <p:spPr>
          <a:xfrm>
            <a:off x="1767379" y="2658057"/>
            <a:ext cx="3961368" cy="76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6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at startup; again at 2 AM self-heal</a:t>
            </a:r>
            <a:endParaRPr lang="en-US" sz="1466" dirty="0"/>
          </a:p>
        </p:txBody>
      </p:sp>
      <p:sp>
        <p:nvSpPr>
          <p:cNvPr id="12" name="Shape 10"/>
          <p:cNvSpPr/>
          <p:nvPr/>
        </p:nvSpPr>
        <p:spPr>
          <a:xfrm>
            <a:off x="365664" y="3486897"/>
            <a:ext cx="5484971" cy="767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487552" y="3486897"/>
            <a:ext cx="1218883" cy="76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6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466" dirty="0"/>
          </a:p>
        </p:txBody>
      </p:sp>
      <p:sp>
        <p:nvSpPr>
          <p:cNvPr id="14" name="Text 12"/>
          <p:cNvSpPr/>
          <p:nvPr/>
        </p:nvSpPr>
        <p:spPr>
          <a:xfrm>
            <a:off x="1767379" y="3486897"/>
            <a:ext cx="3961368" cy="76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6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empty parking bay boundaries via YOLO</a:t>
            </a:r>
            <a:endParaRPr lang="en-US" sz="1466" dirty="0"/>
          </a:p>
        </p:txBody>
      </p:sp>
      <p:sp>
        <p:nvSpPr>
          <p:cNvPr id="15" name="Shape 13"/>
          <p:cNvSpPr/>
          <p:nvPr/>
        </p:nvSpPr>
        <p:spPr>
          <a:xfrm>
            <a:off x="365664" y="4315737"/>
            <a:ext cx="5484971" cy="76789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</p:sp>
      <p:sp>
        <p:nvSpPr>
          <p:cNvPr id="16" name="Text 14"/>
          <p:cNvSpPr/>
          <p:nvPr/>
        </p:nvSpPr>
        <p:spPr>
          <a:xfrm>
            <a:off x="487552" y="4315737"/>
            <a:ext cx="1218883" cy="76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6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66" dirty="0"/>
          </a:p>
        </p:txBody>
      </p:sp>
      <p:sp>
        <p:nvSpPr>
          <p:cNvPr id="17" name="Text 15"/>
          <p:cNvSpPr/>
          <p:nvPr/>
        </p:nvSpPr>
        <p:spPr>
          <a:xfrm>
            <a:off x="1767379" y="4315737"/>
            <a:ext cx="3961368" cy="76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6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bounding boxes → saved to spots_data.json</a:t>
            </a:r>
            <a:endParaRPr lang="en-US" sz="1466" dirty="0"/>
          </a:p>
        </p:txBody>
      </p:sp>
      <p:sp>
        <p:nvSpPr>
          <p:cNvPr id="18" name="Shape 16"/>
          <p:cNvSpPr/>
          <p:nvPr/>
        </p:nvSpPr>
        <p:spPr>
          <a:xfrm>
            <a:off x="6460077" y="1036943"/>
            <a:ext cx="5484971" cy="731330"/>
          </a:xfrm>
          <a:prstGeom prst="rect">
            <a:avLst/>
          </a:prstGeom>
          <a:solidFill>
            <a:srgbClr val="DC143C"/>
          </a:solidFill>
          <a:ln/>
        </p:spPr>
      </p:sp>
      <p:sp>
        <p:nvSpPr>
          <p:cNvPr id="19" name="Text 17"/>
          <p:cNvSpPr/>
          <p:nvPr/>
        </p:nvSpPr>
        <p:spPr>
          <a:xfrm>
            <a:off x="6460077" y="1036943"/>
            <a:ext cx="5484971" cy="7313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best.pt  —  Vehicle Detector  (y11s ★)</a:t>
            </a:r>
            <a:endParaRPr lang="en-US" sz="1866" dirty="0"/>
          </a:p>
        </p:txBody>
      </p:sp>
      <p:sp>
        <p:nvSpPr>
          <p:cNvPr id="20" name="Shape 18"/>
          <p:cNvSpPr/>
          <p:nvPr/>
        </p:nvSpPr>
        <p:spPr>
          <a:xfrm>
            <a:off x="6460077" y="1829217"/>
            <a:ext cx="5484971" cy="767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581965" y="1829217"/>
            <a:ext cx="1218883" cy="76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6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466" dirty="0"/>
          </a:p>
        </p:txBody>
      </p:sp>
      <p:sp>
        <p:nvSpPr>
          <p:cNvPr id="22" name="Text 20"/>
          <p:cNvSpPr/>
          <p:nvPr/>
        </p:nvSpPr>
        <p:spPr>
          <a:xfrm>
            <a:off x="7861792" y="1829217"/>
            <a:ext cx="3961368" cy="76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6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live video frame (real-time stream)</a:t>
            </a:r>
            <a:endParaRPr lang="en-US" sz="1466" dirty="0"/>
          </a:p>
        </p:txBody>
      </p:sp>
      <p:sp>
        <p:nvSpPr>
          <p:cNvPr id="23" name="Shape 21"/>
          <p:cNvSpPr/>
          <p:nvPr/>
        </p:nvSpPr>
        <p:spPr>
          <a:xfrm>
            <a:off x="6460077" y="2658057"/>
            <a:ext cx="5484971" cy="76789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</p:sp>
      <p:sp>
        <p:nvSpPr>
          <p:cNvPr id="24" name="Text 22"/>
          <p:cNvSpPr/>
          <p:nvPr/>
        </p:nvSpPr>
        <p:spPr>
          <a:xfrm>
            <a:off x="6581965" y="2658057"/>
            <a:ext cx="1218883" cy="76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6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466" dirty="0"/>
          </a:p>
        </p:txBody>
      </p:sp>
      <p:sp>
        <p:nvSpPr>
          <p:cNvPr id="25" name="Text 23"/>
          <p:cNvSpPr/>
          <p:nvPr/>
        </p:nvSpPr>
        <p:spPr>
          <a:xfrm>
            <a:off x="7861792" y="2658057"/>
            <a:ext cx="3961368" cy="76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6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frame continuously</a:t>
            </a:r>
            <a:endParaRPr lang="en-US" sz="1466" dirty="0"/>
          </a:p>
        </p:txBody>
      </p:sp>
      <p:sp>
        <p:nvSpPr>
          <p:cNvPr id="26" name="Shape 24"/>
          <p:cNvSpPr/>
          <p:nvPr/>
        </p:nvSpPr>
        <p:spPr>
          <a:xfrm>
            <a:off x="6460077" y="3486897"/>
            <a:ext cx="5484971" cy="767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6581965" y="3486897"/>
            <a:ext cx="1218883" cy="76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6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466" dirty="0"/>
          </a:p>
        </p:txBody>
      </p:sp>
      <p:sp>
        <p:nvSpPr>
          <p:cNvPr id="28" name="Text 26"/>
          <p:cNvSpPr/>
          <p:nvPr/>
        </p:nvSpPr>
        <p:spPr>
          <a:xfrm>
            <a:off x="7861792" y="3486897"/>
            <a:ext cx="3961368" cy="76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6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and track vehicles with persist IDs</a:t>
            </a:r>
            <a:endParaRPr lang="en-US" sz="1466" dirty="0"/>
          </a:p>
        </p:txBody>
      </p:sp>
      <p:sp>
        <p:nvSpPr>
          <p:cNvPr id="29" name="Shape 27"/>
          <p:cNvSpPr/>
          <p:nvPr/>
        </p:nvSpPr>
        <p:spPr>
          <a:xfrm>
            <a:off x="6460077" y="4315737"/>
            <a:ext cx="5484971" cy="76789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</p:sp>
      <p:sp>
        <p:nvSpPr>
          <p:cNvPr id="30" name="Text 28"/>
          <p:cNvSpPr/>
          <p:nvPr/>
        </p:nvSpPr>
        <p:spPr>
          <a:xfrm>
            <a:off x="6581965" y="4315737"/>
            <a:ext cx="1218883" cy="76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6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66" dirty="0"/>
          </a:p>
        </p:txBody>
      </p:sp>
      <p:sp>
        <p:nvSpPr>
          <p:cNvPr id="31" name="Text 29"/>
          <p:cNvSpPr/>
          <p:nvPr/>
        </p:nvSpPr>
        <p:spPr>
          <a:xfrm>
            <a:off x="7861792" y="4315737"/>
            <a:ext cx="3961368" cy="767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6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BBox + confidence score + track ID per car</a:t>
            </a:r>
            <a:endParaRPr lang="en-US" sz="1466" dirty="0"/>
          </a:p>
        </p:txBody>
      </p:sp>
      <p:sp>
        <p:nvSpPr>
          <p:cNvPr id="32" name="Text 30"/>
          <p:cNvSpPr/>
          <p:nvPr/>
        </p:nvSpPr>
        <p:spPr>
          <a:xfrm>
            <a:off x="365664" y="5821057"/>
            <a:ext cx="11457496" cy="5484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i="1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dedicated models &gt; one unified model: each optimised for its task → higher accuracy, lower compute per frame</a:t>
            </a:r>
            <a:endParaRPr lang="en-US" sz="1400" b="1" dirty="0">
              <a:solidFill>
                <a:srgbClr val="DC143C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8DE52F6-FF76-1721-BA46-DFC83321357C}"/>
              </a:ext>
            </a:extLst>
          </p:cNvPr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E2C79CE-D3FD-E89A-C767-F2255BEE8075}"/>
              </a:ext>
            </a:extLst>
          </p:cNvPr>
          <p:cNvSpPr txBox="1"/>
          <p:nvPr/>
        </p:nvSpPr>
        <p:spPr>
          <a:xfrm>
            <a:off x="457200" y="18288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i="0" dirty="0">
                <a:solidFill>
                  <a:srgbClr val="DC143C"/>
                </a:solidFill>
                <a:latin typeface="Calibri"/>
              </a:rPr>
              <a:t>Dual-Model Architecture</a:t>
            </a:r>
            <a:endParaRPr sz="2800" b="1" i="0" dirty="0">
              <a:solidFill>
                <a:srgbClr val="DC143C"/>
              </a:solidFill>
              <a:latin typeface="Calibri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F604040-0908-26F3-1E08-4137202747AB}"/>
              </a:ext>
            </a:extLst>
          </p:cNvPr>
          <p:cNvSpPr/>
          <p:nvPr/>
        </p:nvSpPr>
        <p:spPr>
          <a:xfrm>
            <a:off x="457200" y="707586"/>
            <a:ext cx="1463040" cy="4114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87552" y="893"/>
            <a:ext cx="10969943" cy="8532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Collection &amp; Annotation</a:t>
            </a:r>
            <a:endParaRPr lang="en-US" sz="2933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664" y="1036943"/>
            <a:ext cx="6460077" cy="36566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664" y="4693590"/>
            <a:ext cx="6460077" cy="365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KMITL Campus Security Camera — Parking Area</a:t>
            </a:r>
            <a:endParaRPr lang="en-US" sz="1333" dirty="0"/>
          </a:p>
        </p:txBody>
      </p:sp>
      <p:sp>
        <p:nvSpPr>
          <p:cNvPr id="6" name="Shape 3"/>
          <p:cNvSpPr/>
          <p:nvPr/>
        </p:nvSpPr>
        <p:spPr>
          <a:xfrm>
            <a:off x="7069518" y="1036942"/>
            <a:ext cx="4753642" cy="67038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4"/>
          <p:cNvSpPr/>
          <p:nvPr/>
        </p:nvSpPr>
        <p:spPr>
          <a:xfrm>
            <a:off x="7191406" y="1036942"/>
            <a:ext cx="1950212" cy="6703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Source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1618" y="1036942"/>
            <a:ext cx="2620597" cy="6703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KMITL CCTV (existing infrastructure)</a:t>
            </a:r>
            <a:endParaRPr lang="en-US" sz="1400" dirty="0">
              <a:solidFill>
                <a:srgbClr val="DC143C"/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7069518" y="1768272"/>
            <a:ext cx="4753642" cy="670385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/>
          <a:lstStyle/>
          <a:p>
            <a:endParaRPr lang="en-US" sz="2399"/>
          </a:p>
        </p:txBody>
      </p:sp>
      <p:sp>
        <p:nvSpPr>
          <p:cNvPr id="10" name="Text 7"/>
          <p:cNvSpPr/>
          <p:nvPr/>
        </p:nvSpPr>
        <p:spPr>
          <a:xfrm>
            <a:off x="7191406" y="1768272"/>
            <a:ext cx="1950212" cy="6703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Period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141618" y="1768272"/>
            <a:ext cx="2620597" cy="6703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Days</a:t>
            </a:r>
            <a:endParaRPr lang="en-US" sz="1400" dirty="0">
              <a:solidFill>
                <a:srgbClr val="DC143C"/>
              </a:solidFill>
            </a:endParaRPr>
          </a:p>
        </p:txBody>
      </p:sp>
      <p:sp>
        <p:nvSpPr>
          <p:cNvPr id="12" name="Shape 9"/>
          <p:cNvSpPr/>
          <p:nvPr/>
        </p:nvSpPr>
        <p:spPr>
          <a:xfrm>
            <a:off x="7069518" y="2499601"/>
            <a:ext cx="4753642" cy="67038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7191406" y="2499601"/>
            <a:ext cx="1950212" cy="6703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Windows / Day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141618" y="2499601"/>
            <a:ext cx="2620597" cy="6703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(Morning · Afternoon · Evening · Night)</a:t>
            </a:r>
            <a:endParaRPr lang="en-US" sz="1400" dirty="0">
              <a:solidFill>
                <a:srgbClr val="DC143C"/>
              </a:solidFill>
            </a:endParaRPr>
          </a:p>
        </p:txBody>
      </p:sp>
      <p:sp>
        <p:nvSpPr>
          <p:cNvPr id="15" name="Shape 12"/>
          <p:cNvSpPr/>
          <p:nvPr/>
        </p:nvSpPr>
        <p:spPr>
          <a:xfrm>
            <a:off x="7069518" y="3230931"/>
            <a:ext cx="4753642" cy="670385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</p:sp>
      <p:sp>
        <p:nvSpPr>
          <p:cNvPr id="16" name="Text 13"/>
          <p:cNvSpPr/>
          <p:nvPr/>
        </p:nvSpPr>
        <p:spPr>
          <a:xfrm>
            <a:off x="7191406" y="3230931"/>
            <a:ext cx="1950212" cy="6703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/ Window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9141618" y="3230931"/>
            <a:ext cx="2620597" cy="6703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400" dirty="0">
              <a:solidFill>
                <a:srgbClr val="DC143C"/>
              </a:solidFill>
            </a:endParaRPr>
          </a:p>
        </p:txBody>
      </p:sp>
      <p:sp>
        <p:nvSpPr>
          <p:cNvPr id="18" name="Shape 15"/>
          <p:cNvSpPr/>
          <p:nvPr/>
        </p:nvSpPr>
        <p:spPr>
          <a:xfrm>
            <a:off x="7069518" y="3962260"/>
            <a:ext cx="4753642" cy="67038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6"/>
          <p:cNvSpPr/>
          <p:nvPr/>
        </p:nvSpPr>
        <p:spPr>
          <a:xfrm>
            <a:off x="7191406" y="3962260"/>
            <a:ext cx="1950212" cy="6703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Frames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9141618" y="3962260"/>
            <a:ext cx="2620597" cy="6703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2,400</a:t>
            </a:r>
            <a:endParaRPr lang="en-US" sz="1400" dirty="0">
              <a:solidFill>
                <a:srgbClr val="DC143C"/>
              </a:solidFill>
            </a:endParaRPr>
          </a:p>
        </p:txBody>
      </p:sp>
      <p:sp>
        <p:nvSpPr>
          <p:cNvPr id="21" name="Shape 18"/>
          <p:cNvSpPr/>
          <p:nvPr/>
        </p:nvSpPr>
        <p:spPr>
          <a:xfrm>
            <a:off x="7069518" y="4693590"/>
            <a:ext cx="4753642" cy="670385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</p:sp>
      <p:sp>
        <p:nvSpPr>
          <p:cNvPr id="22" name="Text 19"/>
          <p:cNvSpPr/>
          <p:nvPr/>
        </p:nvSpPr>
        <p:spPr>
          <a:xfrm>
            <a:off x="7191406" y="4693590"/>
            <a:ext cx="1950212" cy="6703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 Classes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9141618" y="4693590"/>
            <a:ext cx="2620597" cy="6703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Spot  &amp;  Vehicle / Car</a:t>
            </a:r>
            <a:endParaRPr lang="en-US" sz="1400" dirty="0">
              <a:solidFill>
                <a:srgbClr val="DC143C"/>
              </a:solidFill>
            </a:endParaRPr>
          </a:p>
        </p:txBody>
      </p:sp>
      <p:sp>
        <p:nvSpPr>
          <p:cNvPr id="24" name="Shape 21"/>
          <p:cNvSpPr/>
          <p:nvPr/>
        </p:nvSpPr>
        <p:spPr>
          <a:xfrm>
            <a:off x="7069518" y="5485864"/>
            <a:ext cx="4753642" cy="67038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2"/>
          <p:cNvSpPr/>
          <p:nvPr/>
        </p:nvSpPr>
        <p:spPr>
          <a:xfrm>
            <a:off x="7191406" y="5485864"/>
            <a:ext cx="1950212" cy="6703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9141618" y="5485864"/>
            <a:ext cx="2620597" cy="6703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Roboflow</a:t>
            </a:r>
            <a:endParaRPr lang="en-US" sz="1400" dirty="0">
              <a:solidFill>
                <a:srgbClr val="DC143C"/>
              </a:solidFill>
            </a:endParaRPr>
          </a:p>
        </p:txBody>
      </p:sp>
      <p:sp>
        <p:nvSpPr>
          <p:cNvPr id="27" name="Text 24"/>
          <p:cNvSpPr/>
          <p:nvPr/>
        </p:nvSpPr>
        <p:spPr>
          <a:xfrm>
            <a:off x="7069518" y="6147887"/>
            <a:ext cx="4753642" cy="4266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66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Time-stratified sampling → training data covers full day/night lighting range</a:t>
            </a:r>
            <a:endParaRPr lang="en-US" sz="1266" dirty="0"/>
          </a:p>
        </p:txBody>
      </p:sp>
      <p:sp>
        <p:nvSpPr>
          <p:cNvPr id="28" name="Title">
            <a:extLst>
              <a:ext uri="{FF2B5EF4-FFF2-40B4-BE49-F238E27FC236}">
                <a16:creationId xmlns:a16="http://schemas.microsoft.com/office/drawing/2014/main" id="{2E77FEF6-6A7A-121D-B61E-F4D72D34AB07}"/>
              </a:ext>
            </a:extLst>
          </p:cNvPr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DC143C"/>
                </a:solidFill>
                <a:latin typeface="Calibri"/>
              </a:rPr>
              <a:t>Dataset Collection &amp; Annotation</a:t>
            </a:r>
          </a:p>
        </p:txBody>
      </p:sp>
      <p:sp>
        <p:nvSpPr>
          <p:cNvPr id="30" name="TopBar">
            <a:extLst>
              <a:ext uri="{FF2B5EF4-FFF2-40B4-BE49-F238E27FC236}">
                <a16:creationId xmlns:a16="http://schemas.microsoft.com/office/drawing/2014/main" id="{E7A3065D-CC8B-EBE8-25A5-8FE0B26B84F1}"/>
              </a:ext>
            </a:extLst>
          </p:cNvPr>
          <p:cNvSpPr/>
          <p:nvPr/>
        </p:nvSpPr>
        <p:spPr>
          <a:xfrm>
            <a:off x="0" y="0"/>
            <a:ext cx="12188825" cy="54864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2442464-211E-CA4B-22AF-85DD27183381}"/>
              </a:ext>
            </a:extLst>
          </p:cNvPr>
          <p:cNvSpPr/>
          <p:nvPr/>
        </p:nvSpPr>
        <p:spPr>
          <a:xfrm>
            <a:off x="457200" y="707586"/>
            <a:ext cx="1463040" cy="4114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14E09F31-7FFB-BEF5-7450-D99BF88DDD68}"/>
              </a:ext>
            </a:extLst>
          </p:cNvPr>
          <p:cNvSpPr txBox="1"/>
          <p:nvPr/>
        </p:nvSpPr>
        <p:spPr>
          <a:xfrm>
            <a:off x="457200" y="182880"/>
            <a:ext cx="10972800" cy="543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Bird's Eye View (BEV) Occupancy Matching</a:t>
            </a:r>
            <a:endParaRPr lang="en-US" sz="2800" dirty="0">
              <a:solidFill>
                <a:srgbClr val="DC143C"/>
              </a:solidFill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664" y="1036943"/>
            <a:ext cx="6094413" cy="343724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664" y="4474192"/>
            <a:ext cx="6094413" cy="365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66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view — perspective distortion visible</a:t>
            </a:r>
            <a:endParaRPr lang="en-US" sz="1266" dirty="0"/>
          </a:p>
        </p:txBody>
      </p:sp>
      <p:sp>
        <p:nvSpPr>
          <p:cNvPr id="6" name="Shape 3"/>
          <p:cNvSpPr/>
          <p:nvPr/>
        </p:nvSpPr>
        <p:spPr>
          <a:xfrm>
            <a:off x="6825741" y="1036943"/>
            <a:ext cx="585064" cy="585064"/>
          </a:xfrm>
          <a:prstGeom prst="rect">
            <a:avLst/>
          </a:prstGeom>
          <a:solidFill>
            <a:srgbClr val="DC143C"/>
          </a:solidFill>
          <a:ln/>
        </p:spPr>
      </p:sp>
      <p:sp>
        <p:nvSpPr>
          <p:cNvPr id="7" name="Text 4"/>
          <p:cNvSpPr/>
          <p:nvPr/>
        </p:nvSpPr>
        <p:spPr>
          <a:xfrm>
            <a:off x="6825741" y="1036943"/>
            <a:ext cx="585064" cy="585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133" dirty="0"/>
          </a:p>
        </p:txBody>
      </p:sp>
      <p:sp>
        <p:nvSpPr>
          <p:cNvPr id="8" name="Text 5"/>
          <p:cNvSpPr/>
          <p:nvPr/>
        </p:nvSpPr>
        <p:spPr>
          <a:xfrm>
            <a:off x="7496127" y="807157"/>
            <a:ext cx="4327033" cy="585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Homography Calibration</a:t>
            </a:r>
            <a:endParaRPr lang="en-US" sz="1733" dirty="0">
              <a:solidFill>
                <a:srgbClr val="DC143C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7496127" y="1187999"/>
            <a:ext cx="4327033" cy="11579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66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4 ground-plane anchor points → 3×3 matrix maps trapezoidal camera region to flat 400×800 px BEV canvas</a:t>
            </a:r>
            <a:endParaRPr lang="en-US" sz="1466" dirty="0"/>
          </a:p>
        </p:txBody>
      </p:sp>
      <p:sp>
        <p:nvSpPr>
          <p:cNvPr id="10" name="Shape 7"/>
          <p:cNvSpPr/>
          <p:nvPr/>
        </p:nvSpPr>
        <p:spPr>
          <a:xfrm>
            <a:off x="6825741" y="2926211"/>
            <a:ext cx="585064" cy="585064"/>
          </a:xfrm>
          <a:prstGeom prst="rect">
            <a:avLst/>
          </a:prstGeom>
          <a:solidFill>
            <a:srgbClr val="DC143C"/>
          </a:solidFill>
          <a:ln/>
        </p:spPr>
      </p:sp>
      <p:sp>
        <p:nvSpPr>
          <p:cNvPr id="11" name="Text 8"/>
          <p:cNvSpPr/>
          <p:nvPr/>
        </p:nvSpPr>
        <p:spPr>
          <a:xfrm>
            <a:off x="6825741" y="2926211"/>
            <a:ext cx="585064" cy="585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133" dirty="0"/>
          </a:p>
        </p:txBody>
      </p:sp>
      <p:sp>
        <p:nvSpPr>
          <p:cNvPr id="12" name="Text 9"/>
          <p:cNvSpPr/>
          <p:nvPr/>
        </p:nvSpPr>
        <p:spPr>
          <a:xfrm>
            <a:off x="7496127" y="2696425"/>
            <a:ext cx="4327033" cy="585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 Projection</a:t>
            </a:r>
            <a:endParaRPr lang="en-US" sz="1733" dirty="0">
              <a:solidFill>
                <a:srgbClr val="DC143C"/>
              </a:solidFill>
            </a:endParaRPr>
          </a:p>
        </p:txBody>
      </p:sp>
      <p:sp>
        <p:nvSpPr>
          <p:cNvPr id="13" name="Text 10"/>
          <p:cNvSpPr/>
          <p:nvPr/>
        </p:nvSpPr>
        <p:spPr>
          <a:xfrm>
            <a:off x="7496127" y="3077266"/>
            <a:ext cx="4327033" cy="11579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66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Car bottom-center (tyre contact point) and spot centers both transformed to scale-normalized BEV coordinates</a:t>
            </a:r>
            <a:endParaRPr lang="en-US" sz="1466" dirty="0"/>
          </a:p>
        </p:txBody>
      </p:sp>
      <p:sp>
        <p:nvSpPr>
          <p:cNvPr id="14" name="Shape 11"/>
          <p:cNvSpPr/>
          <p:nvPr/>
        </p:nvSpPr>
        <p:spPr>
          <a:xfrm>
            <a:off x="6825741" y="4815479"/>
            <a:ext cx="585064" cy="585064"/>
          </a:xfrm>
          <a:prstGeom prst="rect">
            <a:avLst/>
          </a:prstGeom>
          <a:solidFill>
            <a:srgbClr val="DC143C"/>
          </a:solidFill>
          <a:ln/>
        </p:spPr>
      </p:sp>
      <p:sp>
        <p:nvSpPr>
          <p:cNvPr id="15" name="Text 12"/>
          <p:cNvSpPr/>
          <p:nvPr/>
        </p:nvSpPr>
        <p:spPr>
          <a:xfrm>
            <a:off x="6825741" y="4815479"/>
            <a:ext cx="585064" cy="585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133" dirty="0"/>
          </a:p>
        </p:txBody>
      </p:sp>
      <p:sp>
        <p:nvSpPr>
          <p:cNvPr id="16" name="Text 13"/>
          <p:cNvSpPr/>
          <p:nvPr/>
        </p:nvSpPr>
        <p:spPr>
          <a:xfrm>
            <a:off x="7496127" y="4585693"/>
            <a:ext cx="4327033" cy="585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Matching  O(K log K)</a:t>
            </a:r>
            <a:endParaRPr lang="en-US" sz="1733" dirty="0">
              <a:solidFill>
                <a:srgbClr val="DC143C"/>
              </a:solidFill>
            </a:endParaRPr>
          </a:p>
        </p:txBody>
      </p:sp>
      <p:sp>
        <p:nvSpPr>
          <p:cNvPr id="17" name="Text 14"/>
          <p:cNvSpPr/>
          <p:nvPr/>
        </p:nvSpPr>
        <p:spPr>
          <a:xfrm>
            <a:off x="7496127" y="4966534"/>
            <a:ext cx="4327033" cy="11579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66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All (car, spot) pairs scored by Euclidean distance in BEV. 70 px threshold filters implausible matches.</a:t>
            </a:r>
            <a:endParaRPr lang="en-US" sz="1466" dirty="0"/>
          </a:p>
        </p:txBody>
      </p:sp>
      <p:sp>
        <p:nvSpPr>
          <p:cNvPr id="18" name="Text 15"/>
          <p:cNvSpPr/>
          <p:nvPr/>
        </p:nvSpPr>
        <p:spPr>
          <a:xfrm>
            <a:off x="2887503" y="6211945"/>
            <a:ext cx="6520022" cy="463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fixed 70 px threshold works correctly across the entire lot — near and far from camera</a:t>
            </a:r>
            <a:endParaRPr lang="en-US" sz="1333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16B0F10-6214-B2E2-FC18-4B4E326B2815}"/>
              </a:ext>
            </a:extLst>
          </p:cNvPr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6B0273E-8DE6-AD7D-D775-ADD774BA6129}"/>
              </a:ext>
            </a:extLst>
          </p:cNvPr>
          <p:cNvSpPr/>
          <p:nvPr/>
        </p:nvSpPr>
        <p:spPr>
          <a:xfrm>
            <a:off x="457200" y="707586"/>
            <a:ext cx="1463040" cy="4114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C143C"/>
                </a:solidFill>
                <a:latin typeface="Calibri"/>
              </a:rPr>
              <a:t>Model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Training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2926080" cy="41148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52704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Hyperparameter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152704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Value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47672"/>
            <a:ext cx="2926080" cy="438912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97510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Epochs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1975104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50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404872"/>
            <a:ext cx="29260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243230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Image Size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2432304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640 × 640 px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862072"/>
            <a:ext cx="2926080" cy="438912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288950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Batch Size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2889504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319272"/>
            <a:ext cx="29260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334670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Optimizer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3346704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AdamW (auto)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776472"/>
            <a:ext cx="2926080" cy="438912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380390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IoU Threshold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3803904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0.7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233672"/>
            <a:ext cx="29260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426110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Pre-trained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4261104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Yes — COCO weights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690872"/>
            <a:ext cx="2926080" cy="438912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471830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Conf Threshold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4718304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0.15 (inference)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39" y="109728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Four Variants Trained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49039" y="1508760"/>
            <a:ext cx="8046720" cy="41148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867785" y="1600200"/>
            <a:ext cx="914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Model 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27905" y="1600200"/>
            <a:ext cx="1828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Architecture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02425" y="1600200"/>
            <a:ext cx="2103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Dataset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51265" y="1600200"/>
            <a:ext cx="29260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Notes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749039" y="1947672"/>
            <a:ext cx="8046720" cy="438912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867785" y="2048256"/>
            <a:ext cx="914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y11n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27905" y="2048256"/>
            <a:ext cx="1828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YOLOv11 Nano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02425" y="2048256"/>
            <a:ext cx="2103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Standard dataset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51265" y="2048256"/>
            <a:ext cx="29260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Smallest / fastest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749039" y="2404872"/>
            <a:ext cx="8046720" cy="438912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867785" y="2505456"/>
            <a:ext cx="914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C143C"/>
                </a:solidFill>
                <a:latin typeface="Calibri"/>
              </a:rPr>
              <a:t>y11s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27905" y="2505456"/>
            <a:ext cx="1828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C143C"/>
                </a:solidFill>
                <a:latin typeface="Calibri"/>
              </a:rPr>
              <a:t>YOLOv11 Small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02425" y="2505456"/>
            <a:ext cx="2103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C143C"/>
                </a:solidFill>
                <a:latin typeface="Calibri"/>
              </a:rPr>
              <a:t>Standard dataset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51265" y="2505456"/>
            <a:ext cx="2926080" cy="32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C143C"/>
                </a:solidFill>
                <a:latin typeface="Calibri"/>
              </a:rPr>
              <a:t>★ SELECTED — best accuracy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749039" y="2862072"/>
            <a:ext cx="8046720" cy="438912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867785" y="2962656"/>
            <a:ext cx="914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y26n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27905" y="2962656"/>
            <a:ext cx="1828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YOLOv11 Nano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02425" y="2962656"/>
            <a:ext cx="2103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26-class dataset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51265" y="2962656"/>
            <a:ext cx="29260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Tests class breadth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749039" y="3319272"/>
            <a:ext cx="80467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867785" y="3419856"/>
            <a:ext cx="914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y26s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27905" y="3419856"/>
            <a:ext cx="1828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YOLOv11 Small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02425" y="3419856"/>
            <a:ext cx="2103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26-class dataset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51265" y="3419856"/>
            <a:ext cx="29260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Comparison baseline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" y="57607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06070"/>
                </a:solidFill>
                <a:latin typeface="Calibri"/>
              </a:rPr>
              <a:t>All models trained with identical hyperparameters for fair comparison.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6400800"/>
            <a:ext cx="11457432" cy="18288"/>
          </a:xfrm>
          <a:prstGeom prst="rect">
            <a:avLst/>
          </a:prstGeom>
          <a:solidFill>
            <a:srgbClr val="60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6070"/>
                </a:solidFill>
                <a:latin typeface="Calibri"/>
              </a:rPr>
              <a:t>8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DC29BC0-5615-F74B-2B6E-7529E4F7055A}"/>
              </a:ext>
            </a:extLst>
          </p:cNvPr>
          <p:cNvSpPr/>
          <p:nvPr/>
        </p:nvSpPr>
        <p:spPr>
          <a:xfrm>
            <a:off x="457200" y="707586"/>
            <a:ext cx="1463040" cy="4114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88825" cy="54864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DC143C"/>
                </a:solidFill>
                <a:latin typeface="Calibri"/>
              </a:rPr>
              <a:t>Training Convergence — y11s Model (50 Epochs)</a:t>
            </a:r>
          </a:p>
        </p:txBody>
      </p:sp>
      <p:sp>
        <p:nvSpPr>
          <p:cNvPr id="98" name="SlideNum"/>
          <p:cNvSpPr txBox="1"/>
          <p:nvPr/>
        </p:nvSpPr>
        <p:spPr>
          <a:xfrm>
            <a:off x="11429400" y="6400800"/>
            <a:ext cx="685800" cy="274320"/>
          </a:xfrm>
          <a:prstGeom prst="rect">
            <a:avLst/>
          </a:prstGeom>
          <a:noFill/>
        </p:spPr>
        <p:txBody>
          <a:bodyPr anchor="ctr"/>
          <a:lstStyle/>
          <a:p>
            <a:pPr algn="r"/>
            <a:r>
              <a:rPr sz="1000" dirty="0">
                <a:solidFill>
                  <a:srgbClr val="888888"/>
                </a:solidFill>
                <a:latin typeface="Calibri"/>
              </a:rPr>
              <a:t>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071189-C257-F05A-8EDA-24155AACCBAB}"/>
              </a:ext>
            </a:extLst>
          </p:cNvPr>
          <p:cNvSpPr/>
          <p:nvPr/>
        </p:nvSpPr>
        <p:spPr>
          <a:xfrm>
            <a:off x="457200" y="707586"/>
            <a:ext cx="1463040" cy="4114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7F562A1E-A140-740D-ABB5-51213412B7ED}"/>
              </a:ext>
            </a:extLst>
          </p:cNvPr>
          <p:cNvSpPr/>
          <p:nvPr/>
        </p:nvSpPr>
        <p:spPr>
          <a:xfrm>
            <a:off x="1582420" y="5694426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1. Training &amp; validation loss curves + key metrics for y11s across 50 epochs.</a:t>
            </a:r>
            <a:endParaRPr lang="en-US" sz="10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0958279-77F5-FBDF-0685-DE7CB4D6878D}"/>
              </a:ext>
            </a:extLst>
          </p:cNvPr>
          <p:cNvSpPr/>
          <p:nvPr/>
        </p:nvSpPr>
        <p:spPr>
          <a:xfrm>
            <a:off x="1582420" y="602361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loss components decrease monotonically — stable convergence, no overfitting. Validation closely tracks training.</a:t>
            </a:r>
            <a:endParaRPr lang="en-US" sz="1200" dirty="0">
              <a:solidFill>
                <a:srgbClr val="DC143C"/>
              </a:solidFill>
            </a:endParaRPr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A221F3EF-8456-4FF7-E5B6-730D04F0AC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33784" y="905256"/>
            <a:ext cx="11521255" cy="471881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88825" cy="54864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DC143C"/>
                </a:solidFill>
                <a:latin typeface="Calibri"/>
              </a:rPr>
              <a:t>Precision-Recall &amp; F1 Analysis — y11s</a:t>
            </a:r>
          </a:p>
        </p:txBody>
      </p:sp>
      <p:sp>
        <p:nvSpPr>
          <p:cNvPr id="98" name="SlideNum"/>
          <p:cNvSpPr txBox="1"/>
          <p:nvPr/>
        </p:nvSpPr>
        <p:spPr>
          <a:xfrm>
            <a:off x="11429400" y="6400800"/>
            <a:ext cx="685800" cy="274320"/>
          </a:xfrm>
          <a:prstGeom prst="rect">
            <a:avLst/>
          </a:prstGeom>
          <a:noFill/>
        </p:spPr>
        <p:txBody>
          <a:bodyPr anchor="ctr"/>
          <a:lstStyle/>
          <a:p>
            <a:pPr algn="r"/>
            <a:r>
              <a:rPr sz="1000" dirty="0">
                <a:solidFill>
                  <a:srgbClr val="888888"/>
                </a:solidFill>
                <a:latin typeface="Calibri"/>
              </a:rPr>
              <a:t>11</a:t>
            </a:r>
          </a:p>
        </p:txBody>
      </p:sp>
      <p:pic>
        <p:nvPicPr>
          <p:cNvPr id="10" name="Img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868680"/>
            <a:ext cx="5760225" cy="4343640"/>
          </a:xfrm>
          <a:prstGeom prst="rect">
            <a:avLst/>
          </a:prstGeom>
        </p:spPr>
      </p:pic>
      <p:pic>
        <p:nvPicPr>
          <p:cNvPr id="11" name="Img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800" y="868680"/>
            <a:ext cx="5760225" cy="4343640"/>
          </a:xfrm>
          <a:prstGeom prst="rect">
            <a:avLst/>
          </a:prstGeom>
        </p:spPr>
      </p:pic>
      <p:sp>
        <p:nvSpPr>
          <p:cNvPr id="20" name="TB20"/>
          <p:cNvSpPr txBox="1"/>
          <p:nvPr/>
        </p:nvSpPr>
        <p:spPr>
          <a:xfrm>
            <a:off x="679449" y="5286139"/>
            <a:ext cx="330200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dirty="0">
                <a:solidFill>
                  <a:srgbClr val="888888"/>
                </a:solidFill>
                <a:latin typeface="Calibri"/>
              </a:rPr>
              <a:t>Figure 2. Precision-Recall Curve</a:t>
            </a:r>
          </a:p>
        </p:txBody>
      </p:sp>
      <p:sp>
        <p:nvSpPr>
          <p:cNvPr id="21" name="TB21"/>
          <p:cNvSpPr txBox="1"/>
          <p:nvPr/>
        </p:nvSpPr>
        <p:spPr>
          <a:xfrm>
            <a:off x="6654799" y="5286139"/>
            <a:ext cx="353060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dirty="0">
                <a:solidFill>
                  <a:srgbClr val="888888"/>
                </a:solidFill>
                <a:latin typeface="Calibri"/>
              </a:rPr>
              <a:t>Figure 3. F1-Confidence Curve</a:t>
            </a:r>
          </a:p>
        </p:txBody>
      </p:sp>
      <p:sp>
        <p:nvSpPr>
          <p:cNvPr id="22" name="TB22"/>
          <p:cNvSpPr txBox="1"/>
          <p:nvPr/>
        </p:nvSpPr>
        <p:spPr>
          <a:xfrm>
            <a:off x="400050" y="5949961"/>
            <a:ext cx="11274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DC143C"/>
                </a:solidFill>
                <a:latin typeface="Calibri"/>
              </a:rPr>
              <a:t>High area under PR curve confirms robustness across confidence thresholds  ·  Peak F1 &gt; 0.95 at confidence ≈ 0.4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3105B6-29FE-1D58-98DA-900B1CD8B03D}"/>
              </a:ext>
            </a:extLst>
          </p:cNvPr>
          <p:cNvSpPr/>
          <p:nvPr/>
        </p:nvSpPr>
        <p:spPr>
          <a:xfrm>
            <a:off x="457200" y="707586"/>
            <a:ext cx="1463040" cy="4114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88825" cy="54864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DC143C"/>
                </a:solidFill>
                <a:latin typeface="Calibri"/>
              </a:rPr>
              <a:t>Confusion Matrix &amp; Sample Validation Predictions</a:t>
            </a:r>
          </a:p>
        </p:txBody>
      </p:sp>
      <p:sp>
        <p:nvSpPr>
          <p:cNvPr id="98" name="SlideNum"/>
          <p:cNvSpPr txBox="1"/>
          <p:nvPr/>
        </p:nvSpPr>
        <p:spPr>
          <a:xfrm>
            <a:off x="11429400" y="6400800"/>
            <a:ext cx="685800" cy="274320"/>
          </a:xfrm>
          <a:prstGeom prst="rect">
            <a:avLst/>
          </a:prstGeom>
          <a:noFill/>
        </p:spPr>
        <p:txBody>
          <a:bodyPr anchor="ctr"/>
          <a:lstStyle/>
          <a:p>
            <a:pPr algn="r"/>
            <a:r>
              <a:rPr sz="1000" dirty="0">
                <a:solidFill>
                  <a:srgbClr val="888888"/>
                </a:solidFill>
                <a:latin typeface="Calibri"/>
              </a:rPr>
              <a:t>12</a:t>
            </a:r>
          </a:p>
        </p:txBody>
      </p:sp>
      <p:pic>
        <p:nvPicPr>
          <p:cNvPr id="10" name="Img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868680"/>
            <a:ext cx="5760225" cy="4571928"/>
          </a:xfrm>
          <a:prstGeom prst="rect">
            <a:avLst/>
          </a:prstGeom>
        </p:spPr>
      </p:pic>
      <p:pic>
        <p:nvPicPr>
          <p:cNvPr id="11" name="Img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868680"/>
            <a:ext cx="5560225" cy="457192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2661066-BDCB-7D26-BC16-8239ED0BFD8C}"/>
              </a:ext>
            </a:extLst>
          </p:cNvPr>
          <p:cNvSpPr/>
          <p:nvPr/>
        </p:nvSpPr>
        <p:spPr>
          <a:xfrm>
            <a:off x="457200" y="707586"/>
            <a:ext cx="1463040" cy="4114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B20">
            <a:extLst>
              <a:ext uri="{FF2B5EF4-FFF2-40B4-BE49-F238E27FC236}">
                <a16:creationId xmlns:a16="http://schemas.microsoft.com/office/drawing/2014/main" id="{37BA83A4-5F56-FEC0-81EB-F1D6325001E6}"/>
              </a:ext>
            </a:extLst>
          </p:cNvPr>
          <p:cNvSpPr txBox="1"/>
          <p:nvPr/>
        </p:nvSpPr>
        <p:spPr>
          <a:xfrm>
            <a:off x="1457711" y="5475618"/>
            <a:ext cx="330200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888888"/>
                </a:solidFill>
              </a:rPr>
              <a:t>Figure 4. </a:t>
            </a:r>
            <a:r>
              <a:rPr lang="en-US" sz="1000" dirty="0" err="1">
                <a:solidFill>
                  <a:srgbClr val="888888"/>
                </a:solidFill>
              </a:rPr>
              <a:t>Normalised</a:t>
            </a:r>
            <a:r>
              <a:rPr lang="en-US" sz="1000" dirty="0">
                <a:solidFill>
                  <a:srgbClr val="888888"/>
                </a:solidFill>
              </a:rPr>
              <a:t> Confusion Matrix — y11s validation set</a:t>
            </a:r>
          </a:p>
        </p:txBody>
      </p:sp>
      <p:sp>
        <p:nvSpPr>
          <p:cNvPr id="6" name="TB21">
            <a:extLst>
              <a:ext uri="{FF2B5EF4-FFF2-40B4-BE49-F238E27FC236}">
                <a16:creationId xmlns:a16="http://schemas.microsoft.com/office/drawing/2014/main" id="{BE080BF8-E3A4-A2AD-CD8B-E551E154E394}"/>
              </a:ext>
            </a:extLst>
          </p:cNvPr>
          <p:cNvSpPr txBox="1"/>
          <p:nvPr/>
        </p:nvSpPr>
        <p:spPr>
          <a:xfrm>
            <a:off x="6831117" y="5475617"/>
            <a:ext cx="469958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888888"/>
                </a:solidFill>
              </a:rPr>
              <a:t>Figure 5. Sample validation batch predictions — y11s (high confidence, diverse scenes)</a:t>
            </a:r>
          </a:p>
        </p:txBody>
      </p:sp>
      <p:sp>
        <p:nvSpPr>
          <p:cNvPr id="9" name="TB22">
            <a:extLst>
              <a:ext uri="{FF2B5EF4-FFF2-40B4-BE49-F238E27FC236}">
                <a16:creationId xmlns:a16="http://schemas.microsoft.com/office/drawing/2014/main" id="{F10EE18B-3D64-7584-70F9-C87CBFB037F4}"/>
              </a:ext>
            </a:extLst>
          </p:cNvPr>
          <p:cNvSpPr txBox="1"/>
          <p:nvPr/>
        </p:nvSpPr>
        <p:spPr>
          <a:xfrm>
            <a:off x="400050" y="5949961"/>
            <a:ext cx="112746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DC143C"/>
                </a:solidFill>
              </a:rPr>
              <a:t>High on-diagonal values confirm reliable classification — minimal false positives and false negatives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664" y="1036943"/>
            <a:ext cx="8288401" cy="468050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31" y="5761884"/>
            <a:ext cx="8654065" cy="487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6. config/reference.jpg — spots.pt detected 37 parking bays at 2688×1520 px. Coordinates saved to spots_data.json.</a:t>
            </a:r>
            <a:endParaRPr lang="en-US" sz="1333" dirty="0"/>
          </a:p>
        </p:txBody>
      </p:sp>
      <p:sp>
        <p:nvSpPr>
          <p:cNvPr id="6" name="Shape 3"/>
          <p:cNvSpPr/>
          <p:nvPr/>
        </p:nvSpPr>
        <p:spPr>
          <a:xfrm>
            <a:off x="9019730" y="777240"/>
            <a:ext cx="2803430" cy="99948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019730" y="777240"/>
            <a:ext cx="85322" cy="999484"/>
          </a:xfrm>
          <a:prstGeom prst="rect">
            <a:avLst/>
          </a:prstGeom>
          <a:solidFill>
            <a:srgbClr val="DC143C"/>
          </a:solidFill>
          <a:ln/>
        </p:spPr>
      </p:sp>
      <p:sp>
        <p:nvSpPr>
          <p:cNvPr id="8" name="Text 5"/>
          <p:cNvSpPr/>
          <p:nvPr/>
        </p:nvSpPr>
        <p:spPr>
          <a:xfrm>
            <a:off x="9165996" y="801618"/>
            <a:ext cx="2620597" cy="5484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6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2666" dirty="0"/>
          </a:p>
        </p:txBody>
      </p:sp>
      <p:sp>
        <p:nvSpPr>
          <p:cNvPr id="9" name="Text 6"/>
          <p:cNvSpPr/>
          <p:nvPr/>
        </p:nvSpPr>
        <p:spPr>
          <a:xfrm>
            <a:off x="9165996" y="1313549"/>
            <a:ext cx="2620597" cy="3900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Bays detected</a:t>
            </a:r>
            <a:endParaRPr lang="en-US" sz="1333" dirty="0"/>
          </a:p>
        </p:txBody>
      </p:sp>
      <p:sp>
        <p:nvSpPr>
          <p:cNvPr id="10" name="Shape 7"/>
          <p:cNvSpPr/>
          <p:nvPr/>
        </p:nvSpPr>
        <p:spPr>
          <a:xfrm>
            <a:off x="9019730" y="1874234"/>
            <a:ext cx="2803430" cy="99948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019730" y="1874234"/>
            <a:ext cx="85322" cy="999484"/>
          </a:xfrm>
          <a:prstGeom prst="rect">
            <a:avLst/>
          </a:prstGeom>
          <a:solidFill>
            <a:srgbClr val="DC143C"/>
          </a:solidFill>
          <a:ln/>
        </p:spPr>
      </p:sp>
      <p:sp>
        <p:nvSpPr>
          <p:cNvPr id="12" name="Text 9"/>
          <p:cNvSpPr/>
          <p:nvPr/>
        </p:nvSpPr>
        <p:spPr>
          <a:xfrm>
            <a:off x="9165996" y="1898612"/>
            <a:ext cx="2620597" cy="5484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6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2688×1520</a:t>
            </a:r>
            <a:endParaRPr lang="en-US" sz="2666" dirty="0"/>
          </a:p>
        </p:txBody>
      </p:sp>
      <p:sp>
        <p:nvSpPr>
          <p:cNvPr id="13" name="Text 10"/>
          <p:cNvSpPr/>
          <p:nvPr/>
        </p:nvSpPr>
        <p:spPr>
          <a:xfrm>
            <a:off x="9165996" y="2410543"/>
            <a:ext cx="2620597" cy="3900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resolution</a:t>
            </a:r>
            <a:endParaRPr lang="en-US" sz="1333" dirty="0"/>
          </a:p>
        </p:txBody>
      </p:sp>
      <p:sp>
        <p:nvSpPr>
          <p:cNvPr id="14" name="Shape 11"/>
          <p:cNvSpPr/>
          <p:nvPr/>
        </p:nvSpPr>
        <p:spPr>
          <a:xfrm>
            <a:off x="9019730" y="2971229"/>
            <a:ext cx="2803430" cy="99948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9019730" y="2971229"/>
            <a:ext cx="85322" cy="999484"/>
          </a:xfrm>
          <a:prstGeom prst="rect">
            <a:avLst/>
          </a:prstGeom>
          <a:solidFill>
            <a:srgbClr val="DC143C"/>
          </a:solidFill>
          <a:ln/>
        </p:spPr>
      </p:sp>
      <p:sp>
        <p:nvSpPr>
          <p:cNvPr id="16" name="Text 13"/>
          <p:cNvSpPr/>
          <p:nvPr/>
        </p:nvSpPr>
        <p:spPr>
          <a:xfrm>
            <a:off x="9165996" y="2995606"/>
            <a:ext cx="2620597" cy="5484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6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</a:t>
            </a:r>
            <a:endParaRPr lang="en-US" sz="2666" dirty="0"/>
          </a:p>
        </p:txBody>
      </p:sp>
      <p:sp>
        <p:nvSpPr>
          <p:cNvPr id="17" name="Text 14"/>
          <p:cNvSpPr/>
          <p:nvPr/>
        </p:nvSpPr>
        <p:spPr>
          <a:xfrm>
            <a:off x="9165996" y="3507537"/>
            <a:ext cx="2620597" cy="3900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at startup only</a:t>
            </a:r>
            <a:endParaRPr lang="en-US" sz="1333" dirty="0"/>
          </a:p>
        </p:txBody>
      </p:sp>
      <p:sp>
        <p:nvSpPr>
          <p:cNvPr id="18" name="Shape 15"/>
          <p:cNvSpPr/>
          <p:nvPr/>
        </p:nvSpPr>
        <p:spPr>
          <a:xfrm>
            <a:off x="9019730" y="4068223"/>
            <a:ext cx="2803430" cy="99948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9019730" y="4068223"/>
            <a:ext cx="85322" cy="999484"/>
          </a:xfrm>
          <a:prstGeom prst="rect">
            <a:avLst/>
          </a:prstGeom>
          <a:solidFill>
            <a:srgbClr val="DC143C"/>
          </a:solidFill>
          <a:ln/>
        </p:spPr>
      </p:sp>
      <p:sp>
        <p:nvSpPr>
          <p:cNvPr id="20" name="Text 17"/>
          <p:cNvSpPr/>
          <p:nvPr/>
        </p:nvSpPr>
        <p:spPr>
          <a:xfrm>
            <a:off x="9165996" y="4092601"/>
            <a:ext cx="2620597" cy="5484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6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AM</a:t>
            </a:r>
            <a:endParaRPr lang="en-US" sz="2666" dirty="0"/>
          </a:p>
        </p:txBody>
      </p:sp>
      <p:sp>
        <p:nvSpPr>
          <p:cNvPr id="21" name="Text 18"/>
          <p:cNvSpPr/>
          <p:nvPr/>
        </p:nvSpPr>
        <p:spPr>
          <a:xfrm>
            <a:off x="9165996" y="4604531"/>
            <a:ext cx="2620597" cy="3900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Auto-recalibration</a:t>
            </a:r>
            <a:endParaRPr lang="en-US" sz="1333" dirty="0"/>
          </a:p>
        </p:txBody>
      </p:sp>
      <p:sp>
        <p:nvSpPr>
          <p:cNvPr id="22" name="Shape 19"/>
          <p:cNvSpPr/>
          <p:nvPr/>
        </p:nvSpPr>
        <p:spPr>
          <a:xfrm>
            <a:off x="9019730" y="5165217"/>
            <a:ext cx="2803430" cy="99948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9019730" y="5165217"/>
            <a:ext cx="85322" cy="999484"/>
          </a:xfrm>
          <a:prstGeom prst="rect">
            <a:avLst/>
          </a:prstGeom>
          <a:solidFill>
            <a:srgbClr val="DC143C"/>
          </a:solidFill>
          <a:ln/>
        </p:spPr>
      </p:sp>
      <p:sp>
        <p:nvSpPr>
          <p:cNvPr id="24" name="Text 21"/>
          <p:cNvSpPr/>
          <p:nvPr/>
        </p:nvSpPr>
        <p:spPr>
          <a:xfrm>
            <a:off x="9165996" y="5189595"/>
            <a:ext cx="2620597" cy="5484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6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2666" dirty="0"/>
          </a:p>
        </p:txBody>
      </p:sp>
      <p:sp>
        <p:nvSpPr>
          <p:cNvPr id="25" name="Text 22"/>
          <p:cNvSpPr/>
          <p:nvPr/>
        </p:nvSpPr>
        <p:spPr>
          <a:xfrm>
            <a:off x="9165996" y="5701526"/>
            <a:ext cx="2620597" cy="3900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persisted</a:t>
            </a:r>
            <a:endParaRPr lang="en-US" sz="1333" dirty="0"/>
          </a:p>
        </p:txBody>
      </p:sp>
      <p:sp>
        <p:nvSpPr>
          <p:cNvPr id="26" name="TopBar">
            <a:extLst>
              <a:ext uri="{FF2B5EF4-FFF2-40B4-BE49-F238E27FC236}">
                <a16:creationId xmlns:a16="http://schemas.microsoft.com/office/drawing/2014/main" id="{330F6253-535D-7836-793F-481EE2727363}"/>
              </a:ext>
            </a:extLst>
          </p:cNvPr>
          <p:cNvSpPr/>
          <p:nvPr/>
        </p:nvSpPr>
        <p:spPr>
          <a:xfrm>
            <a:off x="0" y="0"/>
            <a:ext cx="12188825" cy="54864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" name="Title">
            <a:extLst>
              <a:ext uri="{FF2B5EF4-FFF2-40B4-BE49-F238E27FC236}">
                <a16:creationId xmlns:a16="http://schemas.microsoft.com/office/drawing/2014/main" id="{F663220F-6B3E-2511-FD87-BE60829418BE}"/>
              </a:ext>
            </a:extLst>
          </p:cNvPr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DC143C"/>
                </a:solidFill>
                <a:latin typeface="Calibri"/>
              </a:rPr>
              <a:t>Parking Spot Detection — Reference Image Output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A8CBA32-EFAB-F0D2-B427-78187E61BD54}"/>
              </a:ext>
            </a:extLst>
          </p:cNvPr>
          <p:cNvSpPr/>
          <p:nvPr/>
        </p:nvSpPr>
        <p:spPr>
          <a:xfrm>
            <a:off x="457200" y="707586"/>
            <a:ext cx="1463040" cy="4114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DC143C"/>
                </a:solidFill>
                <a:latin typeface="Calibri"/>
              </a:rPr>
              <a:t>Performance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11430000" cy="438912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161288"/>
            <a:ext cx="23317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8920" y="1161288"/>
            <a:ext cx="15087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Precision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161288"/>
            <a:ext cx="1234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Recall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23559" y="1161288"/>
            <a:ext cx="13258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mAP@50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59" y="1161288"/>
            <a:ext cx="19659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mAP@50-95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0" y="1161288"/>
            <a:ext cx="1371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Train Time (s)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609344"/>
            <a:ext cx="11430000" cy="484632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" y="1636776"/>
            <a:ext cx="23317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y11n  (YOLOv11n, std)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1636776"/>
            <a:ext cx="15087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0.961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1636776"/>
            <a:ext cx="1234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0.923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3559" y="1636776"/>
            <a:ext cx="13258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95.7%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59" y="1636776"/>
            <a:ext cx="19659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77.4%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1636776"/>
            <a:ext cx="1371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5,597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112264"/>
            <a:ext cx="11430000" cy="484632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1480" y="2139696"/>
            <a:ext cx="2331720" cy="350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DC143C"/>
                </a:solidFill>
                <a:latin typeface="Calibri"/>
              </a:rPr>
              <a:t>y11s  (YOLOv11s, </a:t>
            </a:r>
            <a:r>
              <a:rPr sz="1200" b="1" i="0" dirty="0">
                <a:solidFill>
                  <a:srgbClr val="DE1F45"/>
                </a:solidFill>
                <a:latin typeface="Calibri"/>
              </a:rPr>
              <a:t>std</a:t>
            </a:r>
            <a:r>
              <a:rPr sz="1200" b="1" i="0" dirty="0">
                <a:solidFill>
                  <a:srgbClr val="DC143C"/>
                </a:solidFill>
                <a:latin typeface="Calibri"/>
              </a:rPr>
              <a:t>) 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2139696"/>
            <a:ext cx="15087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C143C"/>
                </a:solidFill>
                <a:latin typeface="Calibri"/>
              </a:rPr>
              <a:t>0.976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2139696"/>
            <a:ext cx="1234440" cy="276999"/>
          </a:xfrm>
          <a:prstGeom prst="rect">
            <a:avLst/>
          </a:prstGeom>
          <a:solidFill>
            <a:srgbClr val="FFEBEE"/>
          </a:solidFill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DC143C"/>
                </a:solidFill>
                <a:latin typeface="Calibri"/>
              </a:rPr>
              <a:t>0.937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59" y="2139696"/>
            <a:ext cx="13258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C143C"/>
                </a:solidFill>
                <a:latin typeface="Calibri"/>
              </a:rPr>
              <a:t>96.4%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59" y="2139696"/>
            <a:ext cx="19659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C143C"/>
                </a:solidFill>
                <a:latin typeface="Calibri"/>
              </a:rPr>
              <a:t>80.7%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6840" y="2139696"/>
            <a:ext cx="1371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C143C"/>
                </a:solidFill>
                <a:latin typeface="Calibri"/>
              </a:rPr>
              <a:t>6,729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15184"/>
            <a:ext cx="11430000" cy="484632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1480" y="2642616"/>
            <a:ext cx="23317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y26n  (YOLOv11n, 26-cls)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88920" y="2642616"/>
            <a:ext cx="15087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0.928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2642616"/>
            <a:ext cx="1234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0.905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23559" y="2642616"/>
            <a:ext cx="13258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95.1%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5159" y="2642616"/>
            <a:ext cx="19659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75.2%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6840" y="2642616"/>
            <a:ext cx="1371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5,448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118104"/>
            <a:ext cx="1143000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11480" y="3145536"/>
            <a:ext cx="23317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y26s  (YOLOv11s, 26-cls)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88920" y="3145536"/>
            <a:ext cx="15087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0.965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3145536"/>
            <a:ext cx="1234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0.930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23559" y="3145536"/>
            <a:ext cx="13258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96.2%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5159" y="3145536"/>
            <a:ext cx="19659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80.8%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06840" y="3145536"/>
            <a:ext cx="1371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5,303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749039"/>
            <a:ext cx="2651760" cy="16459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365760" y="3749039"/>
            <a:ext cx="2651760" cy="54864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65760" y="4133088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 dirty="0">
                <a:solidFill>
                  <a:srgbClr val="DC143C"/>
                </a:solidFill>
                <a:latin typeface="Calibri"/>
              </a:rPr>
              <a:t>96.4%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4782312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rgbClr val="606070"/>
                </a:solidFill>
                <a:latin typeface="Calibri"/>
              </a:rPr>
              <a:t>mAP@50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91840" y="3749039"/>
            <a:ext cx="2651760" cy="16459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3291840" y="3749039"/>
            <a:ext cx="2651760" cy="54864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291840" y="4133088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 dirty="0">
                <a:solidFill>
                  <a:srgbClr val="DC143C"/>
                </a:solidFill>
                <a:latin typeface="Calibri"/>
              </a:rPr>
              <a:t>80.7%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91840" y="4782312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rgbClr val="606070"/>
                </a:solidFill>
                <a:latin typeface="Calibri"/>
              </a:rPr>
              <a:t>mAP@50-95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17920" y="3749039"/>
            <a:ext cx="2651760" cy="16459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217920" y="3749039"/>
            <a:ext cx="2651760" cy="54864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217920" y="4133088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 dirty="0">
                <a:solidFill>
                  <a:srgbClr val="DC143C"/>
                </a:solidFill>
                <a:latin typeface="Calibri"/>
              </a:rPr>
              <a:t>37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7920" y="4782312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rgbClr val="606070"/>
                </a:solidFill>
                <a:latin typeface="Calibri"/>
              </a:rPr>
              <a:t>Spots
Detected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44000" y="3749039"/>
            <a:ext cx="2651760" cy="16459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9144000" y="3749039"/>
            <a:ext cx="2651760" cy="54864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144000" y="4133088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DC143C"/>
                </a:solidFill>
                <a:latin typeface="Calibri"/>
              </a:rPr>
              <a:t>y11s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4000" y="4782312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06070"/>
                </a:solidFill>
                <a:latin typeface="Calibri"/>
              </a:rPr>
              <a:t>Deployed
Model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" y="55321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C143C"/>
                </a:solidFill>
                <a:latin typeface="Calibri"/>
              </a:rPr>
              <a:t>★ Selected for deployment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6400800"/>
            <a:ext cx="11457432" cy="18288"/>
          </a:xfrm>
          <a:prstGeom prst="rect">
            <a:avLst/>
          </a:prstGeom>
          <a:solidFill>
            <a:srgbClr val="60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6070"/>
                </a:solidFill>
                <a:latin typeface="Calibri"/>
              </a:rPr>
              <a:t>9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9EB6E13-5C99-76A4-AC36-C3DEEAF3843D}"/>
              </a:ext>
            </a:extLst>
          </p:cNvPr>
          <p:cNvSpPr/>
          <p:nvPr/>
        </p:nvSpPr>
        <p:spPr>
          <a:xfrm>
            <a:off x="457200" y="707586"/>
            <a:ext cx="1463040" cy="4114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4B97550-A3C8-8252-8D55-16EE8918FB6E}"/>
              </a:ext>
            </a:extLst>
          </p:cNvPr>
          <p:cNvSpPr txBox="1"/>
          <p:nvPr/>
        </p:nvSpPr>
        <p:spPr>
          <a:xfrm>
            <a:off x="457200" y="813786"/>
            <a:ext cx="9144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— Epoch 50 Results</a:t>
            </a:r>
            <a:endParaRPr lang="en-US" sz="1400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65664" y="1000377"/>
            <a:ext cx="6703854" cy="4022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ONNX Speed &amp; Efficiency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7292891"/>
              </p:ext>
            </p:extLst>
          </p:nvPr>
        </p:nvGraphicFramePr>
        <p:xfrm>
          <a:off x="365664" y="1439174"/>
          <a:ext cx="6703854" cy="2376820"/>
        </p:xfrm>
        <a:graphic>
          <a:graphicData uri="http://schemas.openxmlformats.org/drawingml/2006/table">
            <a:tbl>
              <a:tblPr/>
              <a:tblGrid>
                <a:gridCol w="14626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5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07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07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51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3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14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 ONNX (ms)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14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 (ms)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14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Params (M)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14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FLOPs (B)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14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3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y11n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30.35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26.89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3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DE1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y11s ★</a:t>
                      </a:r>
                      <a:endParaRPr lang="en-US" sz="1400" dirty="0">
                        <a:solidFill>
                          <a:srgbClr val="DE1F45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DE1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58.13</a:t>
                      </a:r>
                      <a:endParaRPr lang="en-US" sz="1400" dirty="0">
                        <a:solidFill>
                          <a:srgbClr val="DE1F45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DE1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10.89</a:t>
                      </a:r>
                      <a:endParaRPr lang="en-US" sz="1400" dirty="0">
                        <a:solidFill>
                          <a:srgbClr val="DE1F45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DE1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9.43</a:t>
                      </a:r>
                      <a:endParaRPr lang="en-US" sz="1400" dirty="0">
                        <a:solidFill>
                          <a:srgbClr val="DE1F45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DE1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10.77</a:t>
                      </a:r>
                      <a:endParaRPr lang="en-US" sz="1400" dirty="0">
                        <a:solidFill>
                          <a:srgbClr val="DE1F45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3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y26n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26.59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10.68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3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y26s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54.60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11.16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9.95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664" y="4023205"/>
            <a:ext cx="6703854" cy="4022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Throughput  (7,200 frames)</a:t>
            </a:r>
            <a:endParaRPr lang="en-US" sz="16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9407226"/>
              </p:ext>
            </p:extLst>
          </p:nvPr>
        </p:nvGraphicFramePr>
        <p:xfrm>
          <a:off x="365664" y="4449814"/>
          <a:ext cx="6703853" cy="1980760"/>
        </p:xfrm>
        <a:graphic>
          <a:graphicData uri="http://schemas.openxmlformats.org/drawingml/2006/table">
            <a:tbl>
              <a:tblPr/>
              <a:tblGrid>
                <a:gridCol w="18283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4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4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45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04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14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14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 (ms)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14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(s)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14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04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y11n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97.18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74.09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51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DE1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y11s ★</a:t>
                      </a:r>
                      <a:endParaRPr lang="en-US" sz="1400" dirty="0">
                        <a:solidFill>
                          <a:srgbClr val="DE1F45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DE1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102.85</a:t>
                      </a:r>
                      <a:endParaRPr lang="en-US" sz="1400" dirty="0">
                        <a:solidFill>
                          <a:srgbClr val="DE1F45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DE1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9.72</a:t>
                      </a:r>
                      <a:endParaRPr lang="en-US" sz="1400" dirty="0">
                        <a:solidFill>
                          <a:srgbClr val="DE1F45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DE1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70.01</a:t>
                      </a:r>
                      <a:endParaRPr lang="en-US" sz="1400" dirty="0">
                        <a:solidFill>
                          <a:srgbClr val="DE1F45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04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y26n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101.97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70.61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04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y26s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99.04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72.70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7435183" y="1036943"/>
            <a:ext cx="4387977" cy="5545915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435183" y="1036943"/>
            <a:ext cx="4387977" cy="85322"/>
          </a:xfrm>
          <a:prstGeom prst="rect">
            <a:avLst/>
          </a:prstGeom>
          <a:solidFill>
            <a:srgbClr val="DC143C"/>
          </a:solidFill>
          <a:ln/>
        </p:spPr>
      </p:sp>
      <p:sp>
        <p:nvSpPr>
          <p:cNvPr id="10" name="Text 6"/>
          <p:cNvSpPr/>
          <p:nvPr/>
        </p:nvSpPr>
        <p:spPr>
          <a:xfrm>
            <a:off x="7435183" y="1183209"/>
            <a:ext cx="4387977" cy="5484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y11s wins on all metrics</a:t>
            </a:r>
            <a:endParaRPr lang="en-US" sz="1733" dirty="0"/>
          </a:p>
        </p:txBody>
      </p:sp>
      <p:sp>
        <p:nvSpPr>
          <p:cNvPr id="11" name="Text 7"/>
          <p:cNvSpPr/>
          <p:nvPr/>
        </p:nvSpPr>
        <p:spPr>
          <a:xfrm>
            <a:off x="7557071" y="1829217"/>
            <a:ext cx="4144201" cy="365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mAP@50</a:t>
            </a:r>
            <a:endParaRPr lang="en-US" sz="1333" dirty="0"/>
          </a:p>
        </p:txBody>
      </p:sp>
      <p:sp>
        <p:nvSpPr>
          <p:cNvPr id="12" name="Text 8"/>
          <p:cNvSpPr/>
          <p:nvPr/>
        </p:nvSpPr>
        <p:spPr>
          <a:xfrm>
            <a:off x="7557071" y="2158315"/>
            <a:ext cx="4144201" cy="5484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933" b="1" dirty="0">
                <a:solidFill>
                  <a:srgbClr val="DE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96.4%</a:t>
            </a:r>
            <a:endParaRPr lang="en-US" sz="2933" dirty="0">
              <a:solidFill>
                <a:srgbClr val="DE1F45"/>
              </a:solidFill>
            </a:endParaRPr>
          </a:p>
        </p:txBody>
      </p:sp>
      <p:sp>
        <p:nvSpPr>
          <p:cNvPr id="5" name="Text 9"/>
          <p:cNvSpPr/>
          <p:nvPr/>
        </p:nvSpPr>
        <p:spPr>
          <a:xfrm>
            <a:off x="7557071" y="2658057"/>
            <a:ext cx="4144201" cy="2681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6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accuracy</a:t>
            </a:r>
            <a:endParaRPr lang="en-US" sz="1266" dirty="0"/>
          </a:p>
        </p:txBody>
      </p:sp>
      <p:sp>
        <p:nvSpPr>
          <p:cNvPr id="14" name="Text 10"/>
          <p:cNvSpPr/>
          <p:nvPr/>
        </p:nvSpPr>
        <p:spPr>
          <a:xfrm>
            <a:off x="7557071" y="2950588"/>
            <a:ext cx="4144201" cy="365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mAP@50-95</a:t>
            </a:r>
            <a:endParaRPr lang="en-US" sz="1333" dirty="0"/>
          </a:p>
        </p:txBody>
      </p:sp>
      <p:sp>
        <p:nvSpPr>
          <p:cNvPr id="15" name="Text 11"/>
          <p:cNvSpPr/>
          <p:nvPr/>
        </p:nvSpPr>
        <p:spPr>
          <a:xfrm>
            <a:off x="7557071" y="3279687"/>
            <a:ext cx="4144201" cy="5484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933" b="1" dirty="0">
                <a:solidFill>
                  <a:srgbClr val="DE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80.7%</a:t>
            </a:r>
            <a:endParaRPr lang="en-US" sz="2933" dirty="0">
              <a:solidFill>
                <a:srgbClr val="DE1F45"/>
              </a:solidFill>
            </a:endParaRPr>
          </a:p>
        </p:txBody>
      </p:sp>
      <p:sp>
        <p:nvSpPr>
          <p:cNvPr id="16" name="Text 12"/>
          <p:cNvSpPr/>
          <p:nvPr/>
        </p:nvSpPr>
        <p:spPr>
          <a:xfrm>
            <a:off x="7557071" y="3779429"/>
            <a:ext cx="4144201" cy="2681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6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generalization</a:t>
            </a:r>
            <a:endParaRPr lang="en-US" sz="1266" dirty="0"/>
          </a:p>
        </p:txBody>
      </p:sp>
      <p:sp>
        <p:nvSpPr>
          <p:cNvPr id="17" name="Text 13"/>
          <p:cNvSpPr/>
          <p:nvPr/>
        </p:nvSpPr>
        <p:spPr>
          <a:xfrm>
            <a:off x="7557071" y="4071960"/>
            <a:ext cx="4144201" cy="365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</a:t>
            </a:r>
            <a:endParaRPr lang="en-US" sz="1333" dirty="0"/>
          </a:p>
        </p:txBody>
      </p:sp>
      <p:sp>
        <p:nvSpPr>
          <p:cNvPr id="18" name="Text 14"/>
          <p:cNvSpPr/>
          <p:nvPr/>
        </p:nvSpPr>
        <p:spPr>
          <a:xfrm>
            <a:off x="7557071" y="4401059"/>
            <a:ext cx="4144201" cy="5484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933" b="1" dirty="0">
                <a:solidFill>
                  <a:srgbClr val="DE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102.85 FPS</a:t>
            </a:r>
            <a:endParaRPr lang="en-US" sz="2933" dirty="0">
              <a:solidFill>
                <a:srgbClr val="DE1F45"/>
              </a:solidFill>
            </a:endParaRPr>
          </a:p>
        </p:txBody>
      </p:sp>
      <p:sp>
        <p:nvSpPr>
          <p:cNvPr id="19" name="Text 15"/>
          <p:cNvSpPr/>
          <p:nvPr/>
        </p:nvSpPr>
        <p:spPr>
          <a:xfrm>
            <a:off x="7557071" y="4900801"/>
            <a:ext cx="4144201" cy="2681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6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real-world</a:t>
            </a:r>
            <a:endParaRPr lang="en-US" sz="1266" dirty="0"/>
          </a:p>
        </p:txBody>
      </p:sp>
      <p:sp>
        <p:nvSpPr>
          <p:cNvPr id="20" name="Text 16"/>
          <p:cNvSpPr/>
          <p:nvPr/>
        </p:nvSpPr>
        <p:spPr>
          <a:xfrm>
            <a:off x="7557071" y="5193332"/>
            <a:ext cx="4144201" cy="365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333" dirty="0"/>
          </a:p>
        </p:txBody>
      </p:sp>
      <p:sp>
        <p:nvSpPr>
          <p:cNvPr id="21" name="Text 17"/>
          <p:cNvSpPr/>
          <p:nvPr/>
        </p:nvSpPr>
        <p:spPr>
          <a:xfrm>
            <a:off x="7557071" y="5522431"/>
            <a:ext cx="4144201" cy="5484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933" b="1" dirty="0">
                <a:solidFill>
                  <a:srgbClr val="DE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9.72 ms</a:t>
            </a:r>
            <a:endParaRPr lang="en-US" sz="2933" dirty="0">
              <a:solidFill>
                <a:srgbClr val="DE1F45"/>
              </a:solidFill>
            </a:endParaRPr>
          </a:p>
        </p:txBody>
      </p:sp>
      <p:sp>
        <p:nvSpPr>
          <p:cNvPr id="22" name="Text 18"/>
          <p:cNvSpPr/>
          <p:nvPr/>
        </p:nvSpPr>
        <p:spPr>
          <a:xfrm>
            <a:off x="7557071" y="6022173"/>
            <a:ext cx="4144201" cy="2681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6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per-frame</a:t>
            </a:r>
            <a:endParaRPr lang="en-US" sz="1266" dirty="0"/>
          </a:p>
        </p:txBody>
      </p:sp>
      <p:sp>
        <p:nvSpPr>
          <p:cNvPr id="23" name="Text 19"/>
          <p:cNvSpPr/>
          <p:nvPr/>
        </p:nvSpPr>
        <p:spPr>
          <a:xfrm>
            <a:off x="365664" y="6521914"/>
            <a:ext cx="11457496" cy="3412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larger y11s model achieves higher FPS than y11n — better GPU kernel alignment outweighs extra parameters</a:t>
            </a:r>
            <a:endParaRPr 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83BB30-3FC6-98DA-7FC7-EE2DE628D636}"/>
              </a:ext>
            </a:extLst>
          </p:cNvPr>
          <p:cNvSpPr txBox="1"/>
          <p:nvPr/>
        </p:nvSpPr>
        <p:spPr>
          <a:xfrm>
            <a:off x="457200" y="18288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Performance Benchmarks</a:t>
            </a:r>
            <a:endParaRPr lang="en-US" sz="2800" dirty="0">
              <a:solidFill>
                <a:srgbClr val="DC143C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CAEB327-EC7D-53CC-C53F-E4E3730E32CC}"/>
              </a:ext>
            </a:extLst>
          </p:cNvPr>
          <p:cNvSpPr/>
          <p:nvPr/>
        </p:nvSpPr>
        <p:spPr>
          <a:xfrm>
            <a:off x="457200" y="707586"/>
            <a:ext cx="1463040" cy="4114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C143C"/>
                </a:solidFill>
                <a:latin typeface="Calibri"/>
              </a:rPr>
              <a:t>System Behaviour — Demo Timeline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2743200" cy="48463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2743200" cy="54864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C143C"/>
                </a:solidFill>
                <a:latin typeface="Calibri"/>
              </a:rPr>
              <a:t>02:00 AM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64208"/>
            <a:ext cx="2194560" cy="32004"/>
          </a:xfrm>
          <a:prstGeom prst="rect">
            <a:avLst/>
          </a:prstGeom>
          <a:solidFill>
            <a:srgbClr val="60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71907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>
                <a:solidFill>
                  <a:srgbClr val="1A1A2E"/>
                </a:solidFill>
                <a:latin typeface="Calibri"/>
              </a:rPr>
              <a:t>Low Occupancy
(≤ 2 cars)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31720"/>
            <a:ext cx="24688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06070"/>
                </a:solidFill>
                <a:latin typeface="Calibri"/>
              </a:rPr>
              <a:t>Self-healing recalibration triggered.
spots.pt re-scans live frame,
updates spot registry &amp; JSON.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10128" y="1097280"/>
            <a:ext cx="2743200" cy="48463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10128" y="1097280"/>
            <a:ext cx="2743200" cy="54864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01568" y="1188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C143C"/>
                </a:solidFill>
                <a:latin typeface="Calibri"/>
              </a:rPr>
              <a:t>09:30 AM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84448" y="1664208"/>
            <a:ext cx="2194560" cy="32004"/>
          </a:xfrm>
          <a:prstGeom prst="rect">
            <a:avLst/>
          </a:prstGeom>
          <a:solidFill>
            <a:srgbClr val="60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01568" y="171907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  <a:latin typeface="Calibri"/>
              </a:rPr>
              <a:t>Medium Occupancy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8" y="2331720"/>
            <a:ext cx="24688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06070"/>
                </a:solidFill>
                <a:latin typeface="Calibri"/>
              </a:rPr>
              <a:t>Accurate FREE / TAKEN labels on all
37 spots. Dashboard reflects
correct counts in real time.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54496" y="1097280"/>
            <a:ext cx="2743200" cy="48463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54496" y="1097280"/>
            <a:ext cx="2743200" cy="54864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45936" y="1188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C143C"/>
                </a:solidFill>
                <a:latin typeface="Calibri"/>
              </a:rPr>
              <a:t>16:00 PM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28816" y="1664208"/>
            <a:ext cx="2194560" cy="32004"/>
          </a:xfrm>
          <a:prstGeom prst="rect">
            <a:avLst/>
          </a:prstGeom>
          <a:solidFill>
            <a:srgbClr val="60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45936" y="171907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  <a:latin typeface="Calibri"/>
              </a:rPr>
              <a:t>Peak Occupancy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1656" y="2331720"/>
            <a:ext cx="24688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06070"/>
                </a:solidFill>
                <a:latin typeface="Calibri"/>
              </a:rPr>
              <a:t>HIGH occupancy correctly identified.
Dashboard updates live as cars
enter and occupy bays.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98864" y="1097280"/>
            <a:ext cx="2743200" cy="48463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98864" y="1097280"/>
            <a:ext cx="2743200" cy="54864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90304" y="1188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C143C"/>
                </a:solidFill>
                <a:latin typeface="Calibri"/>
              </a:rPr>
              <a:t>18:00 PM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473184" y="1664208"/>
            <a:ext cx="2194560" cy="32004"/>
          </a:xfrm>
          <a:prstGeom prst="rect">
            <a:avLst/>
          </a:prstGeom>
          <a:solidFill>
            <a:srgbClr val="60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290304" y="171907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  <a:latin typeface="Calibri"/>
              </a:rPr>
              <a:t>Variable Occupancy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36024" y="2331720"/>
            <a:ext cx="24688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06070"/>
                </a:solidFill>
                <a:latin typeface="Calibri"/>
              </a:rPr>
              <a:t>Smooth real-time transitions as
vehicles enter and exit bays.
Greedy matching resolves instantly.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6400800"/>
            <a:ext cx="11457432" cy="18288"/>
          </a:xfrm>
          <a:prstGeom prst="rect">
            <a:avLst/>
          </a:prstGeom>
          <a:solidFill>
            <a:srgbClr val="60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6070"/>
                </a:solidFill>
                <a:latin typeface="Calibri"/>
              </a:rPr>
              <a:t>10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1CF56E1-08EC-5D72-6EB2-3334C3160C97}"/>
              </a:ext>
            </a:extLst>
          </p:cNvPr>
          <p:cNvSpPr/>
          <p:nvPr/>
        </p:nvSpPr>
        <p:spPr>
          <a:xfrm>
            <a:off x="457200" y="707586"/>
            <a:ext cx="1463040" cy="4114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C143C"/>
                </a:solidFill>
                <a:latin typeface="Calibri"/>
              </a:rPr>
              <a:t>Current Progress &amp; Limitations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3931920" cy="493776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3931920" cy="54864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301946"/>
            <a:ext cx="374903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DC143C"/>
                </a:solidFill>
                <a:latin typeface="Calibri"/>
              </a:rPr>
              <a:t>C</a:t>
            </a:r>
            <a:r>
              <a:rPr sz="1400" b="1" i="0" dirty="0">
                <a:solidFill>
                  <a:srgbClr val="DC143C"/>
                </a:solidFill>
                <a:latin typeface="Calibri"/>
              </a:rPr>
              <a:t>ompleted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3703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2E"/>
                </a:solidFill>
                <a:latin typeface="Calibri"/>
              </a:rPr>
              <a:t>•  YOLOv11 model training (4 variants benchmarked)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00441"/>
            <a:ext cx="37033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2E"/>
                </a:solidFill>
                <a:latin typeface="Calibri"/>
              </a:rPr>
              <a:t>•  Parking spot detection — spots.pt, NMS, JSON persistence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46654"/>
            <a:ext cx="3703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2E"/>
                </a:solidFill>
                <a:latin typeface="Calibri"/>
              </a:rPr>
              <a:t>•  Bird's Eye View </a:t>
            </a:r>
            <a:r>
              <a:rPr sz="1200" b="0" i="0" dirty="0" err="1">
                <a:solidFill>
                  <a:srgbClr val="1A1A2E"/>
                </a:solidFill>
                <a:latin typeface="Calibri"/>
              </a:rPr>
              <a:t>homography</a:t>
            </a:r>
            <a:r>
              <a:rPr sz="1200" b="0" i="0" dirty="0">
                <a:solidFill>
                  <a:srgbClr val="1A1A2E"/>
                </a:solidFill>
                <a:latin typeface="Calibri"/>
              </a:rPr>
              <a:t> transform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010577"/>
            <a:ext cx="3703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2E"/>
                </a:solidFill>
                <a:latin typeface="Calibri"/>
              </a:rPr>
              <a:t>•  Greedy BEV distance-based occupancy matching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369822"/>
            <a:ext cx="3703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2E"/>
                </a:solidFill>
                <a:latin typeface="Calibri"/>
              </a:rPr>
              <a:t>•  Self-healing 2 AM recalibration mechanism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735582"/>
            <a:ext cx="3703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2E"/>
                </a:solidFill>
                <a:latin typeface="Calibri"/>
              </a:rPr>
              <a:t>•  Real-time dashboard overlay (OpenCV)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38" y="1097279"/>
            <a:ext cx="3017520" cy="4937761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434840" y="1097280"/>
            <a:ext cx="301752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26279" y="1301946"/>
            <a:ext cx="283463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8C00"/>
                </a:solidFill>
                <a:latin typeface="Calibri"/>
              </a:rPr>
              <a:t>In Progress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737360"/>
            <a:ext cx="2788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•  Demo video polishing &amp; screen capture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100441"/>
            <a:ext cx="2788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2E"/>
                </a:solidFill>
                <a:latin typeface="Calibri"/>
              </a:rPr>
              <a:t>•  UI refinement — label styling, color overlays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9520" y="1097280"/>
            <a:ext cx="4206240" cy="493776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589520" y="1097280"/>
            <a:ext cx="4206240" cy="54864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680960" y="1301946"/>
            <a:ext cx="40233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071BC"/>
                </a:solidFill>
                <a:latin typeface="Calibri"/>
              </a:rPr>
              <a:t> Future 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80" y="1737360"/>
            <a:ext cx="39776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2E"/>
                </a:solidFill>
                <a:latin typeface="Calibri"/>
              </a:rPr>
              <a:t>•  Multi-camera orchestration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80" y="2119929"/>
            <a:ext cx="39776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2E"/>
                </a:solidFill>
                <a:latin typeface="Calibri"/>
              </a:rPr>
              <a:t>•  IoT / MQTT cloud integration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80" y="2502499"/>
            <a:ext cx="39776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2E"/>
                </a:solidFill>
                <a:latin typeface="Calibri"/>
              </a:rPr>
              <a:t>•  License plate recognition (ALPR)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80" y="2889879"/>
            <a:ext cx="39776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2E"/>
                </a:solidFill>
                <a:latin typeface="Calibri"/>
              </a:rPr>
              <a:t>•  Edge deployment (Jetson / Coral TPU)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6400800"/>
            <a:ext cx="11457432" cy="18288"/>
          </a:xfrm>
          <a:prstGeom prst="rect">
            <a:avLst/>
          </a:prstGeom>
          <a:solidFill>
            <a:srgbClr val="60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6070"/>
                </a:solidFill>
                <a:latin typeface="Calibri"/>
              </a:rPr>
              <a:t>11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30AD4DF-977A-DD54-C5B3-4F2BAE63E5AF}"/>
              </a:ext>
            </a:extLst>
          </p:cNvPr>
          <p:cNvSpPr/>
          <p:nvPr/>
        </p:nvSpPr>
        <p:spPr>
          <a:xfrm>
            <a:off x="457200" y="707586"/>
            <a:ext cx="1463040" cy="4114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C143C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What We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08760"/>
            <a:ext cx="6583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• Dual YOLOv11 pipeline: spots.pt (bay detection) + best.pt (vehicle tracking)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68257"/>
            <a:ext cx="49546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2E"/>
                </a:solidFill>
                <a:latin typeface="Calibri"/>
              </a:rPr>
              <a:t>• Bird's Eye View perspective normalization eliminates camera distortion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220771"/>
            <a:ext cx="6583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2E"/>
                </a:solidFill>
                <a:latin typeface="Calibri"/>
              </a:rPr>
              <a:t>• Greedy BEV matching assigns cars to spots in O(K log K) per frame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6130" y="2561462"/>
            <a:ext cx="6583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2E"/>
                </a:solidFill>
                <a:latin typeface="Calibri"/>
              </a:rPr>
              <a:t>• Self-healing recalibration at 2 AM — zero manual re-annotation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26080"/>
            <a:ext cx="6583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2E"/>
                </a:solidFill>
                <a:latin typeface="Calibri"/>
              </a:rPr>
              <a:t>• Deployed model (y11s): mAP@50 = 96.4%, mAP@50-95 = 80.7%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480560"/>
            <a:ext cx="6479714" cy="146304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4480560"/>
            <a:ext cx="54864" cy="146304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4544568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143C"/>
                </a:solidFill>
                <a:latin typeface="Calibri"/>
              </a:rPr>
              <a:t>Why It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37760"/>
            <a:ext cx="49455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2E"/>
                </a:solidFill>
                <a:latin typeface="Calibri"/>
              </a:rPr>
              <a:t>High-accuracy real-time parking management with no per-bay hardware.
Purely software-based — cost-effective, scalable, and maintainable.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0" y="576072"/>
            <a:ext cx="4748616" cy="5367528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132320" y="576071"/>
            <a:ext cx="4748616" cy="10382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61250" y="667512"/>
            <a:ext cx="44636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143C"/>
                </a:solidFill>
                <a:latin typeface="Calibri"/>
              </a:rPr>
              <a:t>Next Steps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1250" y="1170432"/>
            <a:ext cx="44636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→  Multi-camera facility-wide coverage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1250" y="1527047"/>
            <a:ext cx="44636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2E"/>
                </a:solidFill>
                <a:latin typeface="Calibri"/>
              </a:rPr>
              <a:t>→  IoT / MQTT real-time data streaming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1250" y="1888235"/>
            <a:ext cx="44636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2E"/>
                </a:solidFill>
                <a:latin typeface="Calibri"/>
              </a:rPr>
              <a:t>→  Mobile app driver notifications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1250" y="2243960"/>
            <a:ext cx="44636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→  ALPR for permit enforcement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1250" y="2611684"/>
            <a:ext cx="44636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2E"/>
                </a:solidFill>
                <a:latin typeface="Calibri"/>
              </a:rPr>
              <a:t>→  Edge deployment (Jetson / Coral TPU)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1249" y="2982837"/>
            <a:ext cx="44636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2E"/>
                </a:solidFill>
                <a:latin typeface="Calibri"/>
              </a:rPr>
              <a:t>→  Adaptive BEV threshold learning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6643" y="6313263"/>
            <a:ext cx="110955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i="0" dirty="0">
                <a:solidFill>
                  <a:srgbClr val="FFFFFF"/>
                </a:solidFill>
                <a:latin typeface="Calibri"/>
              </a:rPr>
              <a:t>Thank You  |  Q &amp; A</a:t>
            </a:r>
            <a:endParaRPr sz="20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1430000" y="6492240"/>
            <a:ext cx="6400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chemeClr val="bg1"/>
                </a:solidFill>
                <a:latin typeface="Calibri"/>
              </a:rPr>
              <a:t>12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545782E-418D-667D-9243-837A62EBC1FB}"/>
              </a:ext>
            </a:extLst>
          </p:cNvPr>
          <p:cNvSpPr/>
          <p:nvPr/>
        </p:nvSpPr>
        <p:spPr>
          <a:xfrm>
            <a:off x="457200" y="707586"/>
            <a:ext cx="1463040" cy="4114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996</TotalTime>
  <Words>2012</Words>
  <Application>Microsoft Office PowerPoint</Application>
  <PresentationFormat>Custom</PresentationFormat>
  <Paragraphs>460</Paragraphs>
  <Slides>22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Lenovo</dc:creator>
  <cp:keywords/>
  <dc:description>generated using python-pptx</dc:description>
  <cp:lastModifiedBy>Kunanon Rungsomboon</cp:lastModifiedBy>
  <cp:revision>9</cp:revision>
  <dcterms:created xsi:type="dcterms:W3CDTF">2013-01-27T09:14:16Z</dcterms:created>
  <dcterms:modified xsi:type="dcterms:W3CDTF">2026-03-30T09:14:17Z</dcterms:modified>
  <cp:category/>
</cp:coreProperties>
</file>