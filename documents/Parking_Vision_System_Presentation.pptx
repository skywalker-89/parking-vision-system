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1A2E"/>
                </a:solidFill>
                <a:latin typeface="Calibri"/>
              </a:rPr>
              <a:t>Vision-Based Smart Parking
Occupancy Detection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0" y="3246120"/>
            <a:ext cx="3749039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337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DC143C"/>
                </a:solidFill>
                <a:latin typeface="Calibri"/>
              </a:rPr>
              <a:t>Using Dual YOLOv11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114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Group: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41148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Group [X]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5445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Members: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5445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[Your Names]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97433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Advisor: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97433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[Advisor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40410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Course: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540410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[Course Name]  |  March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UNIVERSITY PROJECT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Background — The Parking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7772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•  Drivers waste an average of 17 minutes per trip searching for parking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90472"/>
            <a:ext cx="7772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•  Excessive cruising contributes to urban traffic congestion &amp; carbon emissions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37943"/>
            <a:ext cx="7772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•  Parking operators lack real-time occupancy data, reducing facility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5416"/>
            <a:ext cx="7772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•  Affordable, scalable monitoring remains a critical unmet need in smart cities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097280"/>
            <a:ext cx="3108960" cy="51206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13716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C143C"/>
                </a:solidFill>
                <a:latin typeface="Calibri"/>
              </a:rPr>
              <a:t>17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9659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70"/>
                </a:solidFill>
                <a:latin typeface="Calibri"/>
              </a:rPr>
              <a:t>avg search time
per trip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063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C143C"/>
                </a:solidFill>
                <a:latin typeface="Calibri"/>
              </a:rP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6576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70"/>
                </a:solidFill>
                <a:latin typeface="Calibri"/>
              </a:rPr>
              <a:t>of urban traffic
is cruising for parking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47548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C143C"/>
                </a:solidFill>
                <a:latin typeface="Calibri"/>
              </a:rPr>
              <a:t>$1,000+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53492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70"/>
                </a:solidFill>
                <a:latin typeface="Calibri"/>
              </a:rPr>
              <a:t>annual cost per
sensor per bay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Current Methods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Manual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14300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Security personnel conduct physical walkthroughs — not scalable, error-prone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54864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66543"/>
            <a:ext cx="11247120" cy="8229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12263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Per-Bay Sensors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112263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Magnetic / ultrasonic sensors per space — high cost, difficult to maintain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66543"/>
            <a:ext cx="54864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35808"/>
            <a:ext cx="11247120" cy="8229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0815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Single-Model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08152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One CNN for all tasks — lower accuracy, struggles with multi-class inference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35808"/>
            <a:ext cx="54864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005072"/>
            <a:ext cx="11247120" cy="8229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050791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Perspective Distortion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050791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Far objects appear smaller; naïve pixel-distance matching fails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05072"/>
            <a:ext cx="54864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974336"/>
            <a:ext cx="11247120" cy="8229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02005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Manual Spot Annotation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502005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Parking bay coordinates must be hand-labelled — labour intensive, brittle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74336"/>
            <a:ext cx="54864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70"/>
                </a:solidFill>
                <a:latin typeface="Calibri"/>
              </a:rPr>
              <a:t>Four ideas that define our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77840" cy="2331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44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62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One Camera, Many Slots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70"/>
                </a:solidFill>
                <a:latin typeface="Calibri"/>
              </a:rPr>
              <a:t>A single overhead camera can monitor an entire parking zone,
eliminating per-bay sensor hardware.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577840" cy="2331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44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562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Separate the Detection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4028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70"/>
                </a:solidFill>
                <a:latin typeface="Calibri"/>
              </a:rPr>
              <a:t>Spot detection and car detection are different problems—
using dedicated models for each yields higher accuracy.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5577840" cy="2331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0448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165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BEV Fixes Perspective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0060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70"/>
                </a:solidFill>
                <a:latin typeface="Calibri"/>
              </a:rPr>
              <a:t>Bird's Eye View projection normalises distance distortion,
making proximity matching reliable across the entire lot.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794760"/>
            <a:ext cx="5577840" cy="2331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90448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4165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Recalibration Reduces 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80060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70"/>
                </a:solidFill>
                <a:latin typeface="Calibri"/>
              </a:rPr>
              <a:t>Automated 2 AM spot re-scan self-heals after camera drift,
eliminating the need for human re-annotation.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System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011680"/>
            <a:ext cx="155448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Reference
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3774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06070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011680"/>
            <a:ext cx="1554480" cy="11887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1945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Spot
Detector
(spots.pt)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774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0607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011680"/>
            <a:ext cx="155448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1945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Spot
Coordinates
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3774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0607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011680"/>
            <a:ext cx="155448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945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BEV
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3774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06070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011680"/>
            <a:ext cx="155448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1945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Matching
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23774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06070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2011680"/>
            <a:ext cx="155448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1945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Occupancy
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3657600"/>
            <a:ext cx="155448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3749039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Live
Video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023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06070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657600"/>
            <a:ext cx="1554480" cy="11887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3749039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Car Detector
(best.pt)
+ Tracker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2918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06070"/>
                </a:solidFill>
                <a:latin typeface="Calibri"/>
              </a:rPr>
              <a:t>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166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C143C"/>
                </a:solidFill>
                <a:latin typeface="Calibri"/>
              </a:rPr>
              <a:t>★  Red boxes = YOLOv11 model inference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Core Technical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577840" cy="23774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4864" cy="23774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143C"/>
                </a:solidFill>
                <a:latin typeface="Calibri"/>
              </a:rPr>
              <a:t>Dual YOLOv11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spots.pt — detects empty bay boundaries from a reference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best.pt — tracks vehicles frame-by-frame in live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0720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Each model is specialised, smaller, and more accurate than a single multi-task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94760"/>
            <a:ext cx="5577840" cy="23774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794760"/>
            <a:ext cx="54864" cy="23774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862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143C"/>
                </a:solidFill>
                <a:latin typeface="Calibri"/>
              </a:rPr>
              <a:t>Homography / Bird's Eye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2511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4 anchor points map camera view → flat top-down canvas (400 × 800 px)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Car's tyre contact point &amp; spot centre both projected to BEV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5896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Eliminates perspective-induced scale variation between near/far spots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143000"/>
            <a:ext cx="5577840" cy="23774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143000"/>
            <a:ext cx="54864" cy="23774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2344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143C"/>
                </a:solidFill>
                <a:latin typeface="Calibri"/>
              </a:rPr>
              <a:t>Distance-Based Greedy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67335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All (car, spot) BEV distance pairs computed each 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2402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Sorted ascending — closest pairs assigned first (greedy, O(K log K))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0720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70 px BEV threshold rejects implausible matches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794760"/>
            <a:ext cx="5577840" cy="23774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3794760"/>
            <a:ext cx="54864" cy="23774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8862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143C"/>
                </a:solidFill>
                <a:latin typeface="Calibri"/>
              </a:rPr>
              <a:t>Self-Healing Recalibration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32511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Simulated clock triggers spot re-scan at 2:00 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89204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Only fires when ≤ 2 cars detected (low traffic window)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45896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Re-saves spots_data.json — no human annotation required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Implementation &amp;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120640" cy="5669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4864" cy="56692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161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Python 3.8+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234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Core programming 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01368"/>
            <a:ext cx="5120640" cy="5669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01368"/>
            <a:ext cx="54864" cy="56692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OpenCV 4.x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892807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Video capture, BEV transform, visualisation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59736"/>
            <a:ext cx="5120640" cy="5669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459736"/>
            <a:ext cx="54864" cy="56692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Ultralytics YOLOv11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55117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Object detection &amp; real-time 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18104"/>
            <a:ext cx="5120640" cy="5669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118104"/>
            <a:ext cx="54864" cy="56692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91256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NumPy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2095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Numerical arrays &amp; distance computation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76472"/>
            <a:ext cx="5120640" cy="5669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776472"/>
            <a:ext cx="54864" cy="56692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849624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PyYAML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867911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Configuration file loading (config.yaml)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34840"/>
            <a:ext cx="5120640" cy="5669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434840"/>
            <a:ext cx="54864" cy="56692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50799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JSON stdlib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4526279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Persistent spot coordinate storage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097280"/>
            <a:ext cx="5852160" cy="51206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1430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143C"/>
                </a:solidFill>
                <a:latin typeface="Calibri"/>
              </a:rPr>
              <a:t>Module 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160020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src/main.py           — Entry point &amp; main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08483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modules/detector/     — YOLOv11 car detector wrapper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2569464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modules/parking_logic/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054096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  <a:latin typeface="Calibri"/>
              </a:rPr>
              <a:t>  ├ spot_manager.py   — Spot detection, NMS, BEV matching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3538728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  <a:latin typeface="Calibri"/>
              </a:rPr>
              <a:t>  └ perspective.py    — Homography / BEV transform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02336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src/visualization.py  — OpenCV drawing utilities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450799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config/config.yaml    — Runtime settings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992624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config/spots_data.json— 37 persisted spot coords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5477256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config/reference.jpg  — Empty lot reference image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Model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Training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926080" cy="41148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270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Hyperparameter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5270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47672"/>
            <a:ext cx="292608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751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Epochs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9751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04872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323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Image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4323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640 × 640 px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62072"/>
            <a:ext cx="292608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895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Batch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8895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19272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467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Optimizer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3467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AdamW (auto)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76472"/>
            <a:ext cx="292608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8039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IoU Threshold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8039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0.7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233672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2611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Pre-trained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2611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Yes — COCO weights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690872"/>
            <a:ext cx="292608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7183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Conf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47183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0.15 (inference)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10972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Four Variants Trained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1508760"/>
            <a:ext cx="8046720" cy="41148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94760" y="152704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Model 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15270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15270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15270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39" y="1947672"/>
            <a:ext cx="804672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94760" y="197510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y11n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197510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YOLOv11 Nano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19751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Standard dataset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197510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Smallest / fastest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39" y="2404872"/>
            <a:ext cx="8046720" cy="43891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94760" y="243230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143C"/>
                </a:solidFill>
                <a:latin typeface="Calibri"/>
              </a:rPr>
              <a:t>y11s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243230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143C"/>
                </a:solidFill>
                <a:latin typeface="Calibri"/>
              </a:rPr>
              <a:t>YOLOv11 Small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2432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143C"/>
                </a:solidFill>
                <a:latin typeface="Calibri"/>
              </a:rPr>
              <a:t>Standard dataset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243230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143C"/>
                </a:solidFill>
                <a:latin typeface="Calibri"/>
              </a:rPr>
              <a:t>★ SELECTED — best accuracy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39" y="2862072"/>
            <a:ext cx="804672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94760" y="288950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y26n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288950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YOLOv11 Nano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28895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26-class dataset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288950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Tests class breadth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49039" y="3319272"/>
            <a:ext cx="8046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94760" y="334670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y26s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0" y="334670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YOLOv11 Small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9400" y="33467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26-class dataset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334670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Comparison baseline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5760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70"/>
                </a:solidFill>
                <a:latin typeface="Calibri"/>
              </a:rPr>
              <a:t>All models trained with identical hyperparameters for fair comparison.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Performance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438912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6128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16128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161288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59" y="116128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mAP@50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59" y="116128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mAP@50-95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116128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Train Time (s)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09344"/>
            <a:ext cx="11430000" cy="48463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636776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y11n  (YOLOv11n, std)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636776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0.961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636776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0.923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59" y="1636776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95.7%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59" y="1636776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77.4%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1636776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5,597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112264"/>
            <a:ext cx="11430000" cy="48463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139696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143C"/>
                </a:solidFill>
                <a:latin typeface="Calibri"/>
              </a:rPr>
              <a:t>y11s  (YOLOv11s, std) 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2139696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143C"/>
                </a:solidFill>
                <a:latin typeface="Calibri"/>
              </a:rPr>
              <a:t>0.976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139696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143C"/>
                </a:solidFill>
                <a:latin typeface="Calibri"/>
              </a:rPr>
              <a:t>0.937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59" y="2139696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143C"/>
                </a:solidFill>
                <a:latin typeface="Calibri"/>
              </a:rPr>
              <a:t>96.4%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59" y="2139696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143C"/>
                </a:solidFill>
                <a:latin typeface="Calibri"/>
              </a:rPr>
              <a:t>80.7%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139696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143C"/>
                </a:solidFill>
                <a:latin typeface="Calibri"/>
              </a:rPr>
              <a:t>6,729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15184"/>
            <a:ext cx="11430000" cy="48463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642616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y26n  (YOLOv11n, 26-cls)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642616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0.928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2642616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0.905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59" y="2642616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95.1%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59" y="2642616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75.2%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2642616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5,448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118104"/>
            <a:ext cx="114300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145536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y26s  (YOLOv11s, 26-cls)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3145536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0.965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3145536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0.930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59" y="3145536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96.2%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59" y="3145536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80.8%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3145536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5,303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749039"/>
            <a:ext cx="26517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3749039"/>
            <a:ext cx="265176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3840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C143C"/>
                </a:solidFill>
                <a:latin typeface="Calibri"/>
              </a:rPr>
              <a:t>96.4%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4572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6070"/>
                </a:solidFill>
                <a:latin typeface="Calibri"/>
              </a:rPr>
              <a:t>mAP@50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3749039"/>
            <a:ext cx="26517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91840" y="3749039"/>
            <a:ext cx="265176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91840" y="3840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C143C"/>
                </a:solidFill>
                <a:latin typeface="Calibri"/>
              </a:rPr>
              <a:t>80.7%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4572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6070"/>
                </a:solidFill>
                <a:latin typeface="Calibri"/>
              </a:rPr>
              <a:t>mAP@50-95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749039"/>
            <a:ext cx="26517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3749039"/>
            <a:ext cx="265176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3840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C143C"/>
                </a:solidFill>
                <a:latin typeface="Calibri"/>
              </a:rPr>
              <a:t>37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4572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6070"/>
                </a:solidFill>
                <a:latin typeface="Calibri"/>
              </a:rPr>
              <a:t>Spots
Detected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0" y="3749039"/>
            <a:ext cx="26517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44000" y="3749039"/>
            <a:ext cx="265176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0" y="3840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C143C"/>
                </a:solidFill>
                <a:latin typeface="Calibri"/>
              </a:rPr>
              <a:t>y11s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4572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6070"/>
                </a:solidFill>
                <a:latin typeface="Calibri"/>
              </a:rPr>
              <a:t>Deployed
Model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5532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C143C"/>
                </a:solidFill>
                <a:latin typeface="Calibri"/>
              </a:rPr>
              <a:t>★ Selected for deployment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System Behaviour — Demo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743200" cy="48463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143C"/>
                </a:solidFill>
                <a:latin typeface="Calibri"/>
              </a:rPr>
              <a:t>02:00 AM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64208"/>
            <a:ext cx="2194560" cy="32004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Low Occupancy
(≤ 2 cars)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70"/>
                </a:solidFill>
                <a:latin typeface="Calibri"/>
              </a:rPr>
              <a:t>Self-healing recalibration triggered.
spots.pt re-scans live frame,
updates spot registry &amp; JSON.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1097280"/>
            <a:ext cx="2743200" cy="48463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1097280"/>
            <a:ext cx="274320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143C"/>
                </a:solidFill>
                <a:latin typeface="Calibri"/>
              </a:rPr>
              <a:t>09:30 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1664208"/>
            <a:ext cx="2194560" cy="32004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7190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Medium Occupancy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33172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70"/>
                </a:solidFill>
                <a:latin typeface="Calibri"/>
              </a:rPr>
              <a:t>Accurate FREE / TAKEN labels on all
37 spots. Dashboard reflects
correct counts in real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1097280"/>
            <a:ext cx="2743200" cy="48463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4496" y="1097280"/>
            <a:ext cx="274320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143C"/>
                </a:solidFill>
                <a:latin typeface="Calibri"/>
              </a:rPr>
              <a:t>16:00 PM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664208"/>
            <a:ext cx="2194560" cy="32004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17190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Peak Occupancy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233172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70"/>
                </a:solidFill>
                <a:latin typeface="Calibri"/>
              </a:rPr>
              <a:t>HIGH occupancy correctly identified.
Dashboard updates live as cars
enter and occupy bays.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98864" y="1097280"/>
            <a:ext cx="2743200" cy="48463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98864" y="1097280"/>
            <a:ext cx="274320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0304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143C"/>
                </a:solidFill>
                <a:latin typeface="Calibri"/>
              </a:rPr>
              <a:t>18:00 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73184" y="1664208"/>
            <a:ext cx="2194560" cy="32004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0304" y="17190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Variable Occupancy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6024" y="233172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70"/>
                </a:solidFill>
                <a:latin typeface="Calibri"/>
              </a:rPr>
              <a:t>Smooth real-time transitions as
vehicles enter and exit bays.
Greedy matching resolves instantly.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Current Progress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931920" cy="49377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93192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143C"/>
                </a:solidFill>
                <a:latin typeface="Calibri"/>
              </a:rPr>
              <a:t>✅  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3703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YOLOv11 model training (4 variants benchmarked)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95728"/>
            <a:ext cx="3703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Parking spot detection — spots.pt, NMS, JSON persistence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54096"/>
            <a:ext cx="3703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Bird's Eye View homography transform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12464"/>
            <a:ext cx="3703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Greedy BEV distance-based occupancy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70831"/>
            <a:ext cx="3703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Self-healing 2 AM recalibration 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029200"/>
            <a:ext cx="3703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Real-time dashboard overlay (OpenCV)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097280"/>
            <a:ext cx="3017520" cy="49377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097280"/>
            <a:ext cx="30175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1188720"/>
            <a:ext cx="2834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  <a:latin typeface="Calibri"/>
              </a:rPr>
              <a:t>🔄  In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737360"/>
            <a:ext cx="2788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Demo video polishing &amp; screen capture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95728"/>
            <a:ext cx="2788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UI refinement — label styling, colour overlays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097280"/>
            <a:ext cx="4206240" cy="49377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1097280"/>
            <a:ext cx="4206240" cy="54864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1188720"/>
            <a:ext cx="40233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1BC"/>
                </a:solidFill>
                <a:latin typeface="Calibri"/>
              </a:rPr>
              <a:t>🔭  Future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1737360"/>
            <a:ext cx="39776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Multi-camera orchestration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2395728"/>
            <a:ext cx="39776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IoT / MQTT cloud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3054096"/>
            <a:ext cx="39776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License plate recognition (ALPR)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3712464"/>
            <a:ext cx="39776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Edge deployment (Jetson / Coral TPU)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6583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Dual YOLOv11 pipeline: spots.pt (bay detection) + best.pt (vehicle tracking)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75688"/>
            <a:ext cx="6583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Bird's Eye View perspective normalisation eliminates camera distortion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42615"/>
            <a:ext cx="6583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Greedy BEV matching assigns cars to spots in O(K log K) per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9544"/>
            <a:ext cx="6583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Self-healing recalibration at 2 AM — zero manual re-annotation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76472"/>
            <a:ext cx="6583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Deployed model (y11s): mAP@50 = 96.4%, mAP@50-95 = 80.7%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480560"/>
            <a:ext cx="6858000" cy="14630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4480560"/>
            <a:ext cx="54864" cy="14630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54456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High-accuracy real-time parking management with no per-bay hardware.
Purely software-based — cost-effective, scalable, and maintainable.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1097280"/>
            <a:ext cx="4572000" cy="48463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097280"/>
            <a:ext cx="457200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11887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143C"/>
                </a:solidFill>
                <a:latin typeface="Calibri"/>
              </a:rPr>
              <a:t>Next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169164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→  Multi-camera facility-wide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350008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→  IoT / MQTT real-time data streaming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00837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→  Mobile app driver 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666744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→  ALPR for permit enforcement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325112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→  Edge deployment (Jetson / Coral TPU)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983479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→  Adaptive BEV threshold learning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6245352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Thank You  |  Q &amp; 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